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f3f809fe-670d-fb21-cb5a-140ecae33634}">
          <p14:sldIdLst>
            <p14:sldId id="256"/>
            <p14:sldId id="257"/>
            <p14:sldId id="258"/>
          </p14:sldIdLst>
        </p14:section>
        <p14:section name="Aufbau" id="{ae53b3be-6ebb-f212-db36-98968cd3d7c6}">
          <p14:sldIdLst>
            <p14:sldId id="259"/>
            <p14:sldId id="260"/>
            <p14:sldId id="261"/>
            <p14:sldId id="262"/>
          </p14:sldIdLst>
        </p14:section>
        <p14:section name="Dimensionen &amp; Parameter" id="{52e80254-d7b9-1e8b-81b7-92ac9ccd0b3d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Regeln" id="{fe0ebd4c-176c-cf76-eb7b-fceaf805bdde}">
          <p14:sldIdLst>
            <p14:sldId id="269"/>
            <p14:sldId id="270"/>
            <p14:sldId id="271"/>
            <p14:sldId id="272"/>
            <p14:sldId id="273"/>
          </p14:sldIdLst>
        </p14:section>
        <p14:section name="Prozess" id="{3bfb2036-0063-5537-1818-1b6500f4c55c}">
          <p14:sldIdLst>
            <p14:sldId id="274"/>
            <p14:sldId id="275"/>
            <p14:sldId id="276"/>
            <p14:sldId id="277"/>
            <p14:sldId id="278"/>
          </p14:sldIdLst>
        </p14:section>
        <p14:section name="Analyse" id="{bb42cd28-a64f-d1c3-29f1-2a068451cd94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ools &amp; Laufzeiten" id="{013ac7ce-b72c-eb92-c02d-e194d9496883}">
          <p14:sldIdLst>
            <p14:sldId id="285"/>
            <p14:sldId id="286"/>
            <p14:sldId id="287"/>
            <p14:sldId id="288"/>
          </p14:sldIdLst>
        </p14:section>
        <p14:section name="Erfahrungen" id="{ceb46013-c16f-abc9-d6d1-eb56bf95a18e}">
          <p14:sldIdLst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Stunden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 &quot;h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3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Lauf v1–v2</c:v>
                  </c:pt>
                  <c:pt idx="1">
                    <c:v>Raubtier-Gehirne</c:v>
                  </c:pt>
                  <c:pt idx="2">
                    <c:v>Lauf v4–v5c</c:v>
                  </c:pt>
                  <c:pt idx="3">
                    <c:v>Lauf v6–v8</c:v>
                  </c:pt>
                  <c:pt idx="4">
                    <c:v>Lauf v9–v10 (13.10.)</c:v>
                  </c:pt>
                  <c:pt idx="5">
                    <c:v>Showcase-Renderings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6.8</c:v>
                </c:pt>
                <c:pt idx="1">
                  <c:v>5.5</c:v>
                </c:pt>
                <c:pt idx="2">
                  <c:v>5</c:v>
                </c:pt>
                <c:pt idx="3">
                  <c:v>3</c:v>
                </c:pt>
                <c:pt idx="4">
                  <c:v>8.5</c:v>
                </c:pt>
                <c:pt idx="5">
                  <c:v>19.8</c:v>
                </c:pt>
              </c:numCache>
            </c:numRef>
          </c:val>
        </c:ser>
        <c:dLbls>
          <c:numFmt formatCode="0.0 &quot;h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23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3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Projektüberblick: Myrranox (Ameise, sechs Beine) und DC (Panther mit Zusatzarmen) lernen ihre Bewegungen selbst mit Reinforcement Learning in MuJoCo; Darstellung in Blender.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Simulierte Schritte: Summe aller Lauf- und Raubtier-Trainings inkl. Pilotläufe (Größenordnung). Rechenzeit Lauf-Training: Wandzeit, meist zwei Läufe parallel.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Gewichtsverteilung nach Hüllenvolumen × relativer Dichte (Myrranox-Hinterleib mit halber Dichte). Zahlen gerundet.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Werte gerundet aus TIME_LOG und Trainingsprotokollen; v9–v10 inkl. der abgebrochenen Stufe-1-Versuche vom 13.10.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89B"/>
                </a:solidFill>
              </a:rPr>
              <a:t>Endemic Creatures · Reinforcement Learning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" descr="C:\Users\thoma\PycharmProjects\Reinforcement_Learning_Creature\docs\figures\showcase_side_by_side_v4_no_roc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4399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9319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Endemic Creatures: Laufen lernen mit Reinforcement Learning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52120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Zwei Raubtiere lernen in einer Physik-Simulation zu gehen, zu jagen und sich wie ihre Vorbilder zu bewegen · Projektstand 13.10.2026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Projekt in Zahlen</a:t>
            </a:r>
            <a:endParaRPr lang="en-US" sz="3000" dirty="0"/>
          </a:p>
        </p:txBody>
      </p:sp>
      <p:sp>
        <p:nvSpPr>
          <p:cNvPr id="3" name="stat0"/>
          <p:cNvSpPr/>
          <p:nvPr/>
        </p:nvSpPr>
        <p:spPr>
          <a:xfrm>
            <a:off x="548640" y="137160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14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Kreaturen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&amp; DC</a:t>
            </a:r>
            <a:endParaRPr lang="en-US" sz="1500" dirty="0"/>
          </a:p>
        </p:txBody>
      </p:sp>
      <p:sp>
        <p:nvSpPr>
          <p:cNvPr id="6" name="stat1"/>
          <p:cNvSpPr/>
          <p:nvPr/>
        </p:nvSpPr>
        <p:spPr>
          <a:xfrm>
            <a:off x="4297680" y="137160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514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Versionen des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Laufgehirns</a:t>
            </a:r>
            <a:endParaRPr lang="en-US" sz="1500" dirty="0"/>
          </a:p>
        </p:txBody>
      </p:sp>
      <p:sp>
        <p:nvSpPr>
          <p:cNvPr id="9" name="stat2"/>
          <p:cNvSpPr/>
          <p:nvPr/>
        </p:nvSpPr>
        <p:spPr>
          <a:xfrm>
            <a:off x="8046720" y="137160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514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trainierte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Gehirne</a:t>
            </a:r>
            <a:endParaRPr lang="en-US" sz="1500" dirty="0"/>
          </a:p>
        </p:txBody>
      </p:sp>
      <p:sp>
        <p:nvSpPr>
          <p:cNvPr id="12" name="stat3"/>
          <p:cNvSpPr/>
          <p:nvPr/>
        </p:nvSpPr>
        <p:spPr>
          <a:xfrm>
            <a:off x="548640" y="370332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150 Mio.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Trainingsschritte</a:t>
            </a:r>
            <a:endParaRPr lang="en-US" sz="1500" dirty="0"/>
          </a:p>
        </p:txBody>
      </p:sp>
      <p:sp>
        <p:nvSpPr>
          <p:cNvPr id="15" name="stat4"/>
          <p:cNvSpPr/>
          <p:nvPr/>
        </p:nvSpPr>
        <p:spPr>
          <a:xfrm>
            <a:off x="4297680" y="370332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aller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1500" dirty="0"/>
          </a:p>
        </p:txBody>
      </p:sp>
      <p:sp>
        <p:nvSpPr>
          <p:cNvPr id="18" name="stat5"/>
          <p:cNvSpPr/>
          <p:nvPr/>
        </p:nvSpPr>
        <p:spPr>
          <a:xfrm>
            <a:off x="8046720" y="3703320"/>
            <a:ext cx="34747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931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25 h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846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Rechenzeit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Lauf-Training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Inhalt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Aufbau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Kreaturen, Architektur, Habitat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606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Dimensionen &amp; Parameter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Körper, Physik, Training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Belohnung: Plus- und Minuspunkte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983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394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Versionen v1 bis v10, Raubtier-Gehirne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Lernkurven, Fußfolgen, Messwerte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17920" y="2651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95160" y="2606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Laufzeiten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Software, Hardware, Rechenzeit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17920" y="38404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99516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Erfahrungen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699516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Positives, Negatives, Lehren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Aufbau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Kreaturen, Steuerungsarchitektur und Lebensraum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Raubtiere, zwei Vorbilder</a:t>
            </a:r>
            <a:endParaRPr lang="en-US" sz="3000" dirty="0"/>
          </a:p>
        </p:txBody>
      </p:sp>
      <p:sp>
        <p:nvSpPr>
          <p:cNvPr id="3" name="creature0"/>
          <p:cNvSpPr/>
          <p:nvPr/>
        </p:nvSpPr>
        <p:spPr>
          <a:xfrm>
            <a:off x="54864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till0" descr="C:\Users\thoma\AppData\Local\Temp\claude\C--Users-thoma-PycharmProjects-Reinforcement-Learning-Creature\622b0326-4315-4e43-b875-91706032a352\scratchpad\deck\myr_sti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4160520"/>
            <a:ext cx="4846320" cy="1691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5448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Myrranox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965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Ameise / Insekt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 Beine × 3 Gelenke (Hüfte, Heben, Knie)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8 kg, 1,5 m lang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Gang: Dreifuß (3 Beine am Boden)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Gehen 0,6 m/s · max. 1,2 m/s · dreht auf der Stelle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schwerer Hinterleib (Gaster), Kopf mit Mandibeln</a:t>
            </a:r>
            <a:endParaRPr lang="en-US" sz="1500" dirty="0"/>
          </a:p>
        </p:txBody>
      </p:sp>
      <p:sp>
        <p:nvSpPr>
          <p:cNvPr id="9" name="creature1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till1" descr="C:\Users\thoma\AppData\Local\Temp\claude\C--Users-thoma-PycharmProjects-Reinforcement-Learning-Creature\622b0326-4315-4e43-b875-91706032a352\scratchpad\deck\dc_sti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4160520"/>
            <a:ext cx="4846320" cy="16916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492240" y="16002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223760" y="19659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Panther mit Zusatzarmen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2468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 Beine × 4 Gelenke + 2 Arme × 4 Gelenke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60 kg, 1,3 m hoch, ~2,7 m mit Schwanz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Gang: lateraler Viertakt → Trab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Gehen 0,8 m/s · Trab 2,5 m/s · Sprint 4 m/s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Wirbelsäule, Hals, Kopf aktiv; Schwanz federnd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Hierarchische Steuerung: vom Entschluss zur Bewegung</a:t>
            </a:r>
            <a:endParaRPr lang="en-US" sz="3000" dirty="0"/>
          </a:p>
        </p:txBody>
      </p:sp>
      <p:sp>
        <p:nvSpPr>
          <p:cNvPr id="3" name="arch0"/>
          <p:cNvSpPr/>
          <p:nvPr/>
        </p:nvSpPr>
        <p:spPr>
          <a:xfrm>
            <a:off x="54864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737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Navigationsgehirn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entscheidet: jagen, rasten, wohin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Ausgabe: Tempo + Drehrate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36392" y="2788920"/>
            <a:ext cx="228600" cy="320040"/>
          </a:xfrm>
          <a:prstGeom prst="right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0" name="arch1"/>
          <p:cNvSpPr/>
          <p:nvPr/>
        </p:nvSpPr>
        <p:spPr>
          <a:xfrm>
            <a:off x="338328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6616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Hz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setzt Befehl in Gelenkziele um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(Myr) / 29 (DC) Motoren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71032" y="2788920"/>
            <a:ext cx="228600" cy="320040"/>
          </a:xfrm>
          <a:prstGeom prst="right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17" name="arch2"/>
          <p:cNvSpPr/>
          <p:nvPr/>
        </p:nvSpPr>
        <p:spPr>
          <a:xfrm>
            <a:off x="621792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7373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MuJoCo-Physik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Kräfte, Kontakte, Gleichgewicht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Netz-Körper aus dem Modell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805672" y="2788920"/>
            <a:ext cx="228600" cy="320040"/>
          </a:xfrm>
          <a:prstGeom prst="rightArrow">
            <a:avLst/>
          </a:prstGeom>
          <a:solidFill>
            <a:srgbClr val="8FA89B"/>
          </a:solidFill>
          <a:ln w="12700">
            <a:solidFill>
              <a:srgbClr val="8FA89B"/>
            </a:solidFill>
            <a:prstDash val="solid"/>
          </a:ln>
        </p:spPr>
      </p:sp>
      <p:sp>
        <p:nvSpPr>
          <p:cNvPr id="24" name="arch3"/>
          <p:cNvSpPr/>
          <p:nvPr/>
        </p:nvSpPr>
        <p:spPr>
          <a:xfrm>
            <a:off x="9052560" y="1554480"/>
            <a:ext cx="2560320" cy="27432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35440" y="1737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354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23774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235440" y="27889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fps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35440" y="32004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Knochen folgen den Gelenkwinkeln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Kameras, HUD, Rendering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Gehirne sind neuronale Netze (2 × 256 Neuronen), trainiert mit PPO. Das Laufgehirn lernt nur aus Belohnung und Strafe, ohne vorgegebene Animation (Entscheidung vom 25.09.).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Lebensraum und Spielregeln</a:t>
            </a:r>
            <a:endParaRPr lang="en-US" sz="3000" dirty="0"/>
          </a:p>
        </p:txBody>
      </p:sp>
      <p:sp>
        <p:nvSpPr>
          <p:cNvPr id="3" name="habitat"/>
          <p:cNvSpPr/>
          <p:nvPr/>
        </p:nvSpPr>
        <p:spPr>
          <a:xfrm>
            <a:off x="548640" y="1371600"/>
            <a:ext cx="530352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 100 × 100 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2 Reviere (Radius 28 m), überlappen an einer Wasserstelle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6 Rastplätze, 14 Felsen, Mauern (Showcase ohne Felsen)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Beute: rote Punkte, wandern 0,15 m/s, fliehen 0,35 m/s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Je Revier 5 Beute, 3 neutral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Bedürfnisse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720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Hunger steigt mit Energieverbrauch, Beute −0,5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Müdigkeit: ab 100 % nur noch 30 % Tempo</a:t>
            </a:r>
            <a:endParaRPr lang="en-US" sz="1400" dirty="0"/>
          </a:p>
        </p:txBody>
      </p:sp>
      <p:sp>
        <p:nvSpPr>
          <p:cNvPr id="8" name="rules"/>
          <p:cNvSpPr/>
          <p:nvPr/>
        </p:nvSpPr>
        <p:spPr>
          <a:xfrm>
            <a:off x="6217920" y="1371600"/>
            <a:ext cx="539496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Revier-Regeln (Eigentümer-Entscheidungen)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05740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Beute im eigenen Revier gefressen: kommt nicht zurück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Beute im fremden Revier gefressen: erscheint im eigenen Revier neu (Raubzüge bringen Futter heim)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Neutrale Beute: kommt nach 60–120 s zurück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Beide dürfen ins fremde Revier, kleiner Malus (−0,01 pro 0,1 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Rivale ist im Training anwesend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Dimensionen &amp; Parameter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Körper, Physik und Trainings-Einstellungen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Körper in Zahlen (aktueller Stand v9/v10)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74904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Masse / Größe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kg · 1,5 m lang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kg · 1,3 m hoch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Gliedmaßen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Beine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Beine + 2 Arme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Gelenkmotoren (Aktionen)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(Beine 16, Arme 8, Wirbelsäule 2, Hals/Kopf 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Federgelenke (passiv)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2, Kopf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Schwanz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Beobachtung (Eingänge)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 Werte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 Werte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Physik-Formen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Netz-Hüllen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Netz-Hüllen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Gewichtsverteilung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37 %, Brust 46 %, Beine 12 %, Kopf 5 %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Brust 24 %, Hals 19 %, Heck 13 %, Beine 26 %, Arme 9 %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Befehlsbereich je Gelenk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±50°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Beine ±34°, Arme ±103°, Wirbelsäule ±14°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(Gehen / max.)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/ 1,2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 / 2,5 m/s (Sprint 4,0)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Physik-Körper aus dem echten Modell: Myrranox</a:t>
            </a:r>
            <a:endParaRPr lang="en-US" sz="3000" dirty="0"/>
          </a:p>
        </p:txBody>
      </p:sp>
      <p:pic>
        <p:nvPicPr>
          <p:cNvPr id="3" name="myr_hulls" descr="C:\Users\thoma\AppData\Local\Temp\claude\C--Users-thoma-PycharmProjects-Reinforcement-Learning-Creature\622b0326-4315-4e43-b875-91706032a352\scratchpad\deck\myrranox_physics_body_mesh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09360" cy="4741580"/>
          </a:xfrm>
          <a:prstGeom prst="rect">
            <a:avLst/>
          </a:prstGeom>
        </p:spPr>
      </p:pic>
      <p:sp>
        <p:nvSpPr>
          <p:cNvPr id="4" name="myr_hull_text"/>
          <p:cNvSpPr/>
          <p:nvPr/>
        </p:nvSpPr>
        <p:spPr>
          <a:xfrm>
            <a:off x="7132320" y="1280160"/>
            <a:ext cx="4480560" cy="475488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60920" y="1508760"/>
            <a:ext cx="4069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Pro Knochen eine konvexe Hülle direkt aus dem Netz geschnitten (blau)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Krallen sind die Füße: Kontakt an der echten Sohle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Rechte Beine = Spiegelbild der linken (Modell war 3 cm asymmetrisch)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Hinterleib mit halber Dichte: 54 % → 37 % Gewicht, Schwerpunkt 8 cm nach vorn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Federn skalieren mit der echten Masse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Physik-Körper aus dem echten Modell: DC</a:t>
            </a:r>
            <a:endParaRPr lang="en-US" sz="3000" dirty="0"/>
          </a:p>
        </p:txBody>
      </p:sp>
      <p:pic>
        <p:nvPicPr>
          <p:cNvPr id="3" name="dc_hulls" descr="C:\Users\thoma\AppData\Local\Temp\claude\C--Users-thoma-PycharmProjects-Reinforcement-Learning-Creature\622b0326-4315-4e43-b875-91706032a352\scratchpad\deck\dc_physics_body_mesh_d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309360" cy="4741580"/>
          </a:xfrm>
          <a:prstGeom prst="rect">
            <a:avLst/>
          </a:prstGeom>
        </p:spPr>
      </p:pic>
      <p:sp>
        <p:nvSpPr>
          <p:cNvPr id="4" name="dc_hull_text"/>
          <p:cNvSpPr/>
          <p:nvPr/>
        </p:nvSpPr>
        <p:spPr>
          <a:xfrm>
            <a:off x="7132320" y="1280160"/>
            <a:ext cx="4480560" cy="475488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60920" y="1508760"/>
            <a:ext cx="40690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24 Hüllen statt 30 Kapseln, Platzierung exakt (0 mm Fehler)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Stacheln und Hörner abgeschnitten: kein Volumen ohne Masse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Rumpf am Wirbelsäulengelenk geteilt, Schulterbuckel zur Brust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Arme als echte Gliedmaßen: Schulter, Ellbogen, Handgelenk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Beine seitlich nur ±8°: Pfoten unter dem Körper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Natürliche Standhaltung als Nullpunkt</a:t>
            </a:r>
            <a:endParaRPr lang="en-US" sz="3000" dirty="0"/>
          </a:p>
        </p:txBody>
      </p:sp>
      <p:pic>
        <p:nvPicPr>
          <p:cNvPr id="3" name="pose" descr="C:\Users\thoma\PycharmProjects\Reinforcement_Learning_Creature\docs\figures\standing_pose_v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766560" cy="4440555"/>
          </a:xfrm>
          <a:prstGeom prst="rect">
            <a:avLst/>
          </a:prstGeom>
        </p:spPr>
      </p:pic>
      <p:sp>
        <p:nvSpPr>
          <p:cNvPr id="4" name="pose_text"/>
          <p:cNvSpPr/>
          <p:nvPr/>
        </p:nvSpPr>
        <p:spPr>
          <a:xfrm>
            <a:off x="7589520" y="1280160"/>
            <a:ext cx="4023360" cy="443484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8745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Gehirne mussten Gelenke an die Grenze drücken, nur um richtig zu stehen; für das Laufen blieb kein Spielraum.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315468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Myrranox: vorn/Mitte 6 cm, hinten 12 cm höher → eben, alle 6 Füße am Boden, Hinterleib frei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DC: Arme angelegt, Vorderbeine 3 cm länger → Neigung 4,1°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Trainings-Parameter (PPO)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148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Bedeutung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PPO (Stable-Baselines3) + Symmetrie-Verlust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Links/rechts gespiegelte Situationen → gespiegelte Antwort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256 Neuronen, ELU, getrennt für Aktion/Wert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 und vf je 256-256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Parallele Welten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Umgebungen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SubprocVecEnv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/ Batch / Epochen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Schritte × 8 / 1024 /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4096 Schritte pro Update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Lernrate · γ · λ · Clip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3·10⁻⁴ · 0,99 · 0,95 · 0,2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target_kl 0,03, max_grad_norm 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Normierung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VecNormalize (Beobachtung + Belohnung)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 Belohnungswechsel zurücksetzen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Physik 200 Hz, Steuerung 50 Hz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Physikschritte pro Entscheidung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Aktionsfilter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 += 0,5 · (Aktion − Ziel)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5,5 Hz Grenzfrequenz: keine Sprünge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s = 1000 Schritte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Befehle wechseln alle 2–5 s, als Rampe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250.000 Schritte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alle behalten (Videos, Rückfall)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Regeln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Wofür es Punkte gibt und wofür Abzug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Belohnungsformel (Version 9)</a:t>
            </a:r>
            <a:endParaRPr lang="en-US" sz="3000" dirty="0"/>
          </a:p>
        </p:txBody>
      </p:sp>
      <p:sp>
        <p:nvSpPr>
          <p:cNvPr id="3" name="formula0"/>
          <p:cNvSpPr/>
          <p:nvPr/>
        </p:nvSpPr>
        <p:spPr>
          <a:xfrm>
            <a:off x="548640" y="1463040"/>
            <a:ext cx="34290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und Drehung wie befohlen; Toleranz wächst mit dem Befehl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3200" dirty="0"/>
          </a:p>
        </p:txBody>
      </p:sp>
      <p:sp>
        <p:nvSpPr>
          <p:cNvPr id="8" name="formula1"/>
          <p:cNvSpPr/>
          <p:nvPr/>
        </p:nvSpPr>
        <p:spPr>
          <a:xfrm>
            <a:off x="4343400" y="1463040"/>
            <a:ext cx="34290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 + 0,8 × Tierähnlichkeit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 … 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43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Gangtakt, Beinrhythmus, Tiermerkmale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286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3200" dirty="0"/>
          </a:p>
        </p:txBody>
      </p:sp>
      <p:sp>
        <p:nvSpPr>
          <p:cNvPr id="13" name="formula2"/>
          <p:cNvSpPr/>
          <p:nvPr/>
        </p:nvSpPr>
        <p:spPr>
          <a:xfrm>
            <a:off x="8138160" y="1463040"/>
            <a:ext cx="342900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6676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Qualität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377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743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exp(−Σ Kosten): Ruck, Energie, Rutschen, Kippen …</a:t>
            </a:r>
            <a:endParaRPr lang="en-US" sz="1300" dirty="0"/>
          </a:p>
        </p:txBody>
      </p:sp>
      <p:sp>
        <p:nvSpPr>
          <p:cNvPr id="17" name="why"/>
          <p:cNvSpPr/>
          <p:nvPr/>
        </p:nvSpPr>
        <p:spPr>
          <a:xfrm>
            <a:off x="548640" y="4114800"/>
            <a:ext cx="11064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multiplizieren statt abziehen?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Früher wurden Strafen abgezogen: Bei voller Stärke verlor Stillstehen weniger als Laufen, und die Gehirne blieben stehen (Myrranox v3, DC v8). Jetzt verkleinern Strafen nur die Punkte, die Laufen einbringt. Wer bei Lauf-Befehl stillsteht, bekommt fast nichts. Ein Sturz (Neigung &gt; 25°) beendet die Episode mit −10.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Pluspunkte: wie ein echtes Tier laufen</a:t>
            </a:r>
            <a:endParaRPr lang="en-US" sz="3000" dirty="0"/>
          </a:p>
        </p:txBody>
      </p:sp>
      <p:sp>
        <p:nvSpPr>
          <p:cNvPr id="3" name="plus0"/>
          <p:cNvSpPr/>
          <p:nvPr/>
        </p:nvSpPr>
        <p:spPr>
          <a:xfrm>
            <a:off x="548640" y="1371600"/>
            <a:ext cx="5394960" cy="402336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6002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(Insekt)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Dreifuß-Takt: zwei Dreiergruppen im Wechsel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Hüftschwung 30–40°, Knie im Schwung 40–60° gebeugt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Vorderbeine greifen vor, Hinterbeine schieben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Drehen auf der Stelle: Seiten gegenläufig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Füße heben und setzen im Takt der Gangtakt-Uhr</a:t>
            </a:r>
            <a:endParaRPr lang="en-US" sz="1500" dirty="0"/>
          </a:p>
        </p:txBody>
      </p:sp>
      <p:sp>
        <p:nvSpPr>
          <p:cNvPr id="8" name="plus1"/>
          <p:cNvSpPr/>
          <p:nvPr/>
        </p:nvSpPr>
        <p:spPr>
          <a:xfrm>
            <a:off x="6217920" y="1371600"/>
            <a:ext cx="5394960" cy="402336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160020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(Panther)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2860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Lateraler Viertakt: hinten L → vorn L → hinten R → vorn 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Langsame, lange Schritte (~1 Schritt/s beim Gehen)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Hinterpfote landet in der Spur der Vorderpfote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Pfoten flach, weich aufgesetzt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</a:rPr>
              <a:t>Arme beim Gehen angelegt; ab 1,4 m/s laufen sie mit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beide: Tempo und Drehung treffen (Tracking) · alle Gewichte als Tierähnlichkeit gemittelt (Gangtakt, Rhythmus, Pfotenspur, Arme)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Abzüge: Qualitätskosten (Gewicht c je Kostenart)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85800"/>
                <a:gridCol w="2788920"/>
                <a:gridCol w="2240280"/>
                <a:gridCol w="822960"/>
                <a:gridCol w="2423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Gemessen 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Gemessen als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Energie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mechanische Leistung / (m·g·v)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 rollen/nicken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Winkelgeschwindigkeit²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(Gelenkbeschleunigung / 500)²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Wippen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vertikale Rumpfgeschwindigkeit²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Befehlssprünge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Änderung der gefilterten Ziele²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Kippen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statische Neigung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Rutschen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Fußgeschwindigkeit am Boden²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Beschleunigungs-Pumpen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Tempoänderung im Schritt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Tippen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Aufsetzen nach &lt; halbem Schwung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Harte Landung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vertikale Fußgeschw.²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Unbenutztes Bein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2 Zyklen ohne Bodenkontakt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Zappeln im Stand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Gelenkgeschw.² bei Stand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am Boden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 am Boden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DC, beim Gehen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Pfotenspur zu breit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breiter als im Stand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Kopf wackelt/kippt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0,02/2,0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 am Boden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Körperkontakt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 an Grenze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Anteil nahe Grenze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Qualität = exp(−Σ c · Kosten). Viele Gewichte wurden nach Messungen verschärft (z. B. Kippen und Wippen ×3, Rutschen und Tippen ×3).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Harte Regeln, Lehrpläne und Hilfen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17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Sturz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4356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Neigung &gt; 25° oder Rumpf zu tief → Episode endet, −10 (verhindert z. B. den DC-Handstand)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Strafen-Rampe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1214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Strafen starten bei 20 % und steigen bis 40 % der Trainingszeit auf 100 %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88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Toleranz-Rampe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28072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Tempo-Toleranz wird zwischen 20 % und 80 % des Laufs strenger (1,0 → 0,5–0,7)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29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Befehls-Stufen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34930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--max-command: erst Gehen, dann Trab, Lauf, Sprint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605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Laufhilfe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114800" y="41788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für jede Vorwärtsbewegung, ausgeblendet über 1,5 Mio. Schritte; nie für Stillstand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48463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Gelenk-Wächter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114800" y="48646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meldet Gelenke, deren Befehl dauerhaft jenseits der Grenze liegt (kein Lernsignal mehr)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4864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486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5532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Schrittgenerator (Myr v10)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114800" y="555040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Dreifuß-Rhythmus fest vorgegeben, Gehirn korrigiert bis ±26°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Prozess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Vom ersten Schritt bis zum Tiergang: zehn Versionen in drei Wochen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Zeitachse des Projekts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3154680"/>
            <a:ext cx="10607040" cy="0"/>
          </a:xfrm>
          <a:prstGeom prst="line">
            <a:avLst/>
          </a:prstGeom>
          <a:noFill/>
          <a:ln w="25400">
            <a:solidFill>
              <a:srgbClr val="8FA89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23.09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3566160"/>
            <a:ext cx="1426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Projektplan, Habitat, Blender-Grundlage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70048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25.09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3566160"/>
            <a:ext cx="1426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Laufgehirn v1 + v2, erste Raubtier-Gehirne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42816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39896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721608" y="3566160"/>
            <a:ext cx="1426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Raubtiere jagen, Showcase, Körper v3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15584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12664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28.09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294376" y="3566160"/>
            <a:ext cx="1426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 präzise &amp; flüssig, Showcase-Videos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88352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85432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29.09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67144" y="3566160"/>
            <a:ext cx="1426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 natürlicher Stil, Knie befreit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61120" y="2971800"/>
            <a:ext cx="365760" cy="365760"/>
          </a:xfrm>
          <a:prstGeom prst="ellipse">
            <a:avLst/>
          </a:prstGeom>
          <a:solidFill>
            <a:srgbClr val="2E7D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58200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30.09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439912" y="3566160"/>
            <a:ext cx="1426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v6–v8: sechsgliedriger DC, Netz-Körper, Sprint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533888" y="2971800"/>
            <a:ext cx="365760" cy="365760"/>
          </a:xfrm>
          <a:prstGeom prst="ellipse">
            <a:avLst/>
          </a:prstGeom>
          <a:solidFill>
            <a:srgbClr val="D98E0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30968" y="2423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13.10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0012680" y="3566160"/>
            <a:ext cx="1426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v9/v10: neue Belohnung, Standhaltung, Dreifuß-Generator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Kalenderzeit 23.09.–13.10. · 7 Arbeitstage · Trainings und Renderings liefen oft über Nacht oder parallel zur Entwicklung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Laufgehirn-Versionen v1–v5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4572000"/>
                <a:gridCol w="4663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Tempo-Belohnung, breite Toleranz, Strafen-Rampe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beide laufen; Pilotläufe vorher: Stillstand-Falle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Gangtakt-Uhr, Dreifuß / Schritt→Trab, Spiegel-Symmetrie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natürlicher Gang, ~5× (Myr) / 2,4× (DC) weniger Energie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Wirbelsäule, Hals, Kopf aktiv; ruhiger Kopf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Kopfwackeln −41 %; Myrranox: Stillstand (gescheitert)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Aktionsfilter, Toleranz-Rampe, Befehlsrampen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 dreht auf der Stelle 7 → 58°/s; −25 % Ruck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Rhythmus-Referenz, Knie-Entlastung, Panther-Schritt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 Knie 4,5° → 20° (war blockiert seit v2)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Kopf ×3, strenges Tempo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DC-Standard: 0,62 m Schritt, Kopf im Bild stabilisiert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Laufgehirn-Versionen v6–v10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4572000"/>
                <a:gridCol w="4663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mit 6 Gliedmaßen, Beine ±8°, strengere Takt-Regeln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Gehirn-Transplantat stand still; von Null abgebrochen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Schrittgenerator für den DC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Rhythmus allein: Sturz alle 1,5 s (Vierbeiner instabil)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DC-Netz-Körper, Sprint 4 m/s, Brems-Rampen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Handstand; Kollaps bei 3,2 Mio. (Strafen voll)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Multiplikative Belohnung, Netz-Körper beide, Standhaltung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DC: Katzen-Fußfolge, 0,70 m/s; Myr: Schubkarre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Myr: Dreifuß-Generator + Korrekturen, leichter Hinterleib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Myr: 0,53 m/s, alle 6 Beine, Knie 56°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13.10., 17:30: DC (v9) und Myrranox (v10) trainieren weiter, Messung nach Abschluss.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Raubtier-Gehirne: vom Verhungern zum Jagen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  <a:gridCol w="3291840"/>
                <a:gridCol w="3566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Versuch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Änderung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Lehre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Belohnung laut Plan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blieb daheim, verhungerte (0 Beute)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Jagen und Verhungern kaum unterscheidbar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satt + jeder Fang + Jagd-Hinweis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 still (0 Beute)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halber Aktionsbereich hieß „Stopp“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voller Tempobereich, Flucht-Lehrplan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→ 2,5 Beute / 10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Erkunden ermöglichen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Runde 1, 3 Mio. Schritte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4,0–4,4 Beute / 10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seltene Lagen werden selten gelernt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Vorrat, Eindringling, Hungertage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freigegeben: 4,6 Beute, rastet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Myrranox ermüdet 2× schneller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Freigegeben: DC dc_brain_v4_r1 · Myrranox myr_brain_v3_r1. Raubzüge und Revierverteidigung wurden von keinem Gehirn gelernt.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· Analyse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Lernkurven, Fußfolgen und Messwerte gegen die Ziele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Lernkurven der Lauf-Trainings</a:t>
            </a:r>
            <a:endParaRPr lang="en-US" sz="3000" dirty="0"/>
          </a:p>
        </p:txBody>
      </p:sp>
      <p:pic>
        <p:nvPicPr>
          <p:cNvPr id="3" name="lc_myr" descr="C:\Users\thoma\PycharmProjects\Reinforcement_Learning_Creature\docs\figures\locomotion\learning_curves_myrran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440680" cy="3022600"/>
          </a:xfrm>
          <a:prstGeom prst="rect">
            <a:avLst/>
          </a:prstGeom>
        </p:spPr>
      </p:pic>
      <p:pic>
        <p:nvPicPr>
          <p:cNvPr id="4" name="lc_dc" descr="C:\Users\thoma\PycharmProjects\Reinforcement_Learning_Creature\docs\figures\locomotion\learning_curves_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80160"/>
            <a:ext cx="5440680" cy="3022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5262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 pro Episode über die Trainingsschritte, alle Läufe inkl. gescheiterter Pilotläufe. Werte zwischen Versionen nicht vergleichbar, die Belohnung änderte sich jedes Mal.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Fußfolge-Diagramme aller Gehirne</a:t>
            </a:r>
            <a:endParaRPr lang="en-US" sz="3000" dirty="0"/>
          </a:p>
        </p:txBody>
      </p:sp>
      <p:pic>
        <p:nvPicPr>
          <p:cNvPr id="3" name="ff_myr" descr="C:\Users\thoma\PycharmProjects\Reinforcement_Learning_Creature\docs\figures\gait\overview_myrran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400800" cy="3890394"/>
          </a:xfrm>
          <a:prstGeom prst="rect">
            <a:avLst/>
          </a:prstGeom>
        </p:spPr>
      </p:pic>
      <p:pic>
        <p:nvPicPr>
          <p:cNvPr id="4" name="ff_dc" descr="C:\Users\thoma\PycharmProjects\Reinforcement_Learning_Creature\docs\figures\gait\overview_d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234440"/>
            <a:ext cx="4434840" cy="356526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Dunkel = Fuß am Boden, je 8 s. Links Myrranox (Gehen, Vollgas, Drehen auf der Stelle), rechts DC (Gehen, Trab).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Messung gegen die Ziele: Myrranox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926080"/>
                <a:gridCol w="2560320"/>
                <a:gridCol w="24688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Messwert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 (Schubkarre, 1,5 Mio.)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v10 (0,5 Mio.)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bei Befehl 0,6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Rumpfneigung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−0,2°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Hüftschwung / Knie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30° / 39°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30° / 56°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30–40° / 40–60°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Vorderbeine am Boden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~55 %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Dreifuß-Gruppen im Wechsel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am Boden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Schritte/s je Bein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(hektisch)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Stürze in 10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Punkt: Die Vorderbeine schwingen im Takt, setzen aber kaum auf; die Vorderklauen rutschen.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Messung gegen die Ziele: DC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377440"/>
                <a:gridCol w="3291840"/>
                <a:gridCol w="2286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Messwert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v5c (Showcase)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v9 aktuell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bei Befehl 0,8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 m/s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Fußfolge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(Uhr)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hinten L → vorn L → hinten R → vorn 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lateraler Viertakt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Rumpfneigung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6,5° (Kopf)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Wippen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 cm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 cm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 cm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Pfotenspur hinten / vorn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 / 0,26 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0,19 / 0,23 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Arme am Boden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Hinterbeine Schritte/s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 / 2,0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Vorderbeine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Stürze in 10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Fortschritt: richtige Katzen-Fußfolge. Offen: Hinterbein-Trippeln, Wippen, Hinterpfote noch nicht in der Vorderpfoten-Spur.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Analysewerkzeuge</a:t>
            </a:r>
            <a:endParaRPr lang="en-US" sz="3000" dirty="0"/>
          </a:p>
        </p:txBody>
      </p:sp>
      <p:sp>
        <p:nvSpPr>
          <p:cNvPr id="3" name="tool0"/>
          <p:cNvSpPr/>
          <p:nvPr/>
        </p:nvSpPr>
        <p:spPr>
          <a:xfrm>
            <a:off x="548640" y="1371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precision_metrics.py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47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Tempo- und Drehfehler pro Befehlsabschnitt</a:t>
            </a:r>
            <a:endParaRPr lang="en-US" sz="1300" dirty="0"/>
          </a:p>
        </p:txBody>
      </p:sp>
      <p:sp>
        <p:nvSpPr>
          <p:cNvPr id="6" name="tool1"/>
          <p:cNvSpPr/>
          <p:nvPr/>
        </p:nvSpPr>
        <p:spPr>
          <a:xfrm>
            <a:off x="6217920" y="1371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81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style_metrics.py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847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Bewegungsumfang, Schrittlänge, Fußhöhe, Pfotenspur</a:t>
            </a:r>
            <a:endParaRPr lang="en-US" sz="1300" dirty="0"/>
          </a:p>
        </p:txBody>
      </p:sp>
      <p:sp>
        <p:nvSpPr>
          <p:cNvPr id="9" name="tool2"/>
          <p:cNvSpPr/>
          <p:nvPr/>
        </p:nvSpPr>
        <p:spPr>
          <a:xfrm>
            <a:off x="548640" y="2514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24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alive_metrics.py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90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Kopf- und Rumpfwackeln, Ruck, Energie</a:t>
            </a:r>
            <a:endParaRPr lang="en-US" sz="1300" dirty="0"/>
          </a:p>
        </p:txBody>
      </p:sp>
      <p:sp>
        <p:nvSpPr>
          <p:cNvPr id="12" name="tool3"/>
          <p:cNvSpPr/>
          <p:nvPr/>
        </p:nvSpPr>
        <p:spPr>
          <a:xfrm>
            <a:off x="6217920" y="2514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2624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gait_analysis.py / gait_overview.py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90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Fußfolge-Diagramme aller Gehirne</a:t>
            </a:r>
            <a:endParaRPr lang="en-US" sz="1300" dirty="0"/>
          </a:p>
        </p:txBody>
      </p:sp>
      <p:sp>
        <p:nvSpPr>
          <p:cNvPr id="15" name="tool4"/>
          <p:cNvSpPr/>
          <p:nvPr/>
        </p:nvSpPr>
        <p:spPr>
          <a:xfrm>
            <a:off x="548640" y="3657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67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Gelenk-Wächter + unsaturate_brain.py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133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blockierte Gelenke finden und befreien</a:t>
            </a:r>
            <a:endParaRPr lang="en-US" sz="1300" dirty="0"/>
          </a:p>
        </p:txBody>
      </p:sp>
      <p:sp>
        <p:nvSpPr>
          <p:cNvPr id="18" name="tool5"/>
          <p:cNvSpPr/>
          <p:nvPr/>
        </p:nvSpPr>
        <p:spPr>
          <a:xfrm>
            <a:off x="6217920" y="3657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3767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Überlagerungs-Renderings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33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Physik-Hüllen über dem Blender-Modell</a:t>
            </a:r>
            <a:endParaRPr lang="en-US" sz="1300" dirty="0"/>
          </a:p>
        </p:txBody>
      </p:sp>
      <p:sp>
        <p:nvSpPr>
          <p:cNvPr id="21" name="tool6"/>
          <p:cNvSpPr/>
          <p:nvPr/>
        </p:nvSpPr>
        <p:spPr>
          <a:xfrm>
            <a:off x="548640" y="4800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910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watch_locomotion.py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276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MuJoCo-Live-Fenster je Training</a:t>
            </a:r>
            <a:endParaRPr lang="en-US" sz="1300" dirty="0"/>
          </a:p>
        </p:txBody>
      </p:sp>
      <p:sp>
        <p:nvSpPr>
          <p:cNvPr id="24" name="tool7"/>
          <p:cNvSpPr/>
          <p:nvPr/>
        </p:nvSpPr>
        <p:spPr>
          <a:xfrm>
            <a:off x="6217920" y="4800600"/>
            <a:ext cx="53949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49103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Trainings-Videos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46520" y="5276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Checkpoint, ungeübt bis fertig, neben der Lernkurve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· Tools &amp; Laufzeiten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Software, Hardware und wohin die Rechenzeit ging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und Umgebung</a:t>
            </a:r>
            <a:endParaRPr lang="en-US" sz="3000" dirty="0"/>
          </a:p>
        </p:txBody>
      </p:sp>
      <p:sp>
        <p:nvSpPr>
          <p:cNvPr id="3" name="stack0"/>
          <p:cNvSpPr/>
          <p:nvPr/>
        </p:nvSpPr>
        <p:spPr>
          <a:xfrm>
            <a:off x="548640" y="1371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6304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MuJoCo 3 · Gymnasium-Umgebungen</a:t>
            </a:r>
            <a:endParaRPr lang="en-US" sz="1400" dirty="0"/>
          </a:p>
        </p:txBody>
      </p:sp>
      <p:sp>
        <p:nvSpPr>
          <p:cNvPr id="7" name="stack1"/>
          <p:cNvSpPr/>
          <p:nvPr/>
        </p:nvSpPr>
        <p:spPr>
          <a:xfrm>
            <a:off x="4297680" y="1371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1208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Lernen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Stable-Baselines3 (PPO) · PyTorch (CPU)</a:t>
            </a:r>
            <a:endParaRPr lang="en-US" sz="1400" dirty="0"/>
          </a:p>
        </p:txBody>
      </p:sp>
      <p:sp>
        <p:nvSpPr>
          <p:cNvPr id="11" name="stack2"/>
          <p:cNvSpPr/>
          <p:nvPr/>
        </p:nvSpPr>
        <p:spPr>
          <a:xfrm>
            <a:off x="8046720" y="1371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21040" y="16459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0" y="1691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&amp; Video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5.2 (EEVEE) · imageio-ffmpeg</a:t>
            </a:r>
            <a:endParaRPr lang="en-US" sz="1400" dirty="0"/>
          </a:p>
        </p:txBody>
      </p:sp>
      <p:sp>
        <p:nvSpPr>
          <p:cNvPr id="15" name="stack3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63040" y="3977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572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TensorBoard · NumPy · SciPy · Matplotlib</a:t>
            </a:r>
            <a:endParaRPr lang="en-US" sz="1400" dirty="0"/>
          </a:p>
        </p:txBody>
      </p:sp>
      <p:sp>
        <p:nvSpPr>
          <p:cNvPr id="19" name="stack4"/>
          <p:cNvSpPr/>
          <p:nvPr/>
        </p:nvSpPr>
        <p:spPr>
          <a:xfrm>
            <a:off x="4297680" y="3657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319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212080" y="3977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· Git + Git LFS · Claude Code</a:t>
            </a:r>
            <a:endParaRPr lang="en-US" sz="1400" dirty="0"/>
          </a:p>
        </p:txBody>
      </p:sp>
      <p:sp>
        <p:nvSpPr>
          <p:cNvPr id="23" name="stack5"/>
          <p:cNvSpPr/>
          <p:nvPr/>
        </p:nvSpPr>
        <p:spPr>
          <a:xfrm>
            <a:off x="8046720" y="365760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39319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61120" y="3977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572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CPU-Kerne · keine CUDA-GPU · Windows 11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Rechenzeit nach Aufgabe (Wandzeit, ca.)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untime_text"/>
          <p:cNvSpPr/>
          <p:nvPr/>
        </p:nvSpPr>
        <p:spPr>
          <a:xfrm>
            <a:off x="7589520" y="1280160"/>
            <a:ext cx="4023360" cy="475488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508760"/>
            <a:ext cx="3611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Lauf-Training gesamt ≈ 25 h, meist 2 Läufe parallel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Raubtier-Training ≈ 5,5 h (24,5 Mio. Schritte)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4 Showcase-Videos à 5 min: je 2 × 9.001 Bilder, 4,3–5,7 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Arbeitssitzungen ≈ 70 h an 7 Tagen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Projektplan: 9–13 Wochen geschätzt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schnell rechnet der PC?</a:t>
            </a:r>
            <a:endParaRPr lang="en-US" sz="3000" dirty="0"/>
          </a:p>
        </p:txBody>
      </p:sp>
      <p:sp>
        <p:nvSpPr>
          <p:cNvPr id="3" name="speed0"/>
          <p:cNvSpPr/>
          <p:nvPr/>
        </p:nvSpPr>
        <p:spPr>
          <a:xfrm>
            <a:off x="548640" y="137160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650–1.700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Trainingsschritte/s je Lauf (Kapsel-Körper)</a:t>
            </a:r>
            <a:endParaRPr lang="en-US" sz="1500" dirty="0"/>
          </a:p>
        </p:txBody>
      </p:sp>
      <p:sp>
        <p:nvSpPr>
          <p:cNvPr id="6" name="speed1"/>
          <p:cNvSpPr/>
          <p:nvPr/>
        </p:nvSpPr>
        <p:spPr>
          <a:xfrm>
            <a:off x="6217920" y="137160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00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−25 %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688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langsamer mit Netz-Körpern</a:t>
            </a:r>
            <a:endParaRPr lang="en-US" sz="1500" dirty="0"/>
          </a:p>
        </p:txBody>
      </p:sp>
      <p:sp>
        <p:nvSpPr>
          <p:cNvPr id="9" name="speed2"/>
          <p:cNvSpPr/>
          <p:nvPr/>
        </p:nvSpPr>
        <p:spPr>
          <a:xfrm>
            <a:off x="548640" y="356616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94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663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Bild und Kamera (Blender EEVEE 960 × 540)</a:t>
            </a:r>
            <a:endParaRPr lang="en-US" sz="1500" dirty="0"/>
          </a:p>
        </p:txBody>
      </p:sp>
      <p:sp>
        <p:nvSpPr>
          <p:cNvPr id="12" name="speed3"/>
          <p:cNvSpPr/>
          <p:nvPr/>
        </p:nvSpPr>
        <p:spPr>
          <a:xfrm>
            <a:off x="6217920" y="3566160"/>
            <a:ext cx="5394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794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h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663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3 Mio. Schritte, ein Lauf allein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 MuJoCo-Live-Fenster und TensorBoard bremsen das Training spürbar. Wird die Sitzung geschlossen, stoppen Trainings und Renderings; Checkpoints und Einzelbilder machen das Fortsetzen billig.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· Erfahrungen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Was gut lief, was schiefging und was wir gelernt haben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Erlebnisse</a:t>
            </a:r>
            <a:endParaRPr lang="en-US" sz="3000" dirty="0"/>
          </a:p>
        </p:txBody>
      </p:sp>
      <p:sp>
        <p:nvSpPr>
          <p:cNvPr id="3" name="pos0"/>
          <p:cNvSpPr/>
          <p:nvPr/>
        </p:nvSpPr>
        <p:spPr>
          <a:xfrm>
            <a:off x="54864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8191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447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laufen per RL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vorgegebene Animation, alles gelernt</a:t>
            </a:r>
            <a:endParaRPr lang="en-US" sz="1300" dirty="0"/>
          </a:p>
        </p:txBody>
      </p:sp>
      <p:sp>
        <p:nvSpPr>
          <p:cNvPr id="8" name="pos1"/>
          <p:cNvSpPr/>
          <p:nvPr/>
        </p:nvSpPr>
        <p:spPr>
          <a:xfrm>
            <a:off x="6217920" y="132588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58191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5819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14447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natürlicher Gang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Dreifuß und Trab, bis 5× weniger Energie</a:t>
            </a:r>
            <a:endParaRPr lang="en-US" sz="1300" dirty="0"/>
          </a:p>
        </p:txBody>
      </p:sp>
      <p:sp>
        <p:nvSpPr>
          <p:cNvPr id="13" name="pos2"/>
          <p:cNvSpPr/>
          <p:nvPr/>
        </p:nvSpPr>
        <p:spPr>
          <a:xfrm>
            <a:off x="54864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77063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Raubtiere jagen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4,6 Beute / 10 min, rastet bei Müdigkeit</a:t>
            </a:r>
            <a:endParaRPr lang="en-US" sz="1300" dirty="0"/>
          </a:p>
        </p:txBody>
      </p:sp>
      <p:sp>
        <p:nvSpPr>
          <p:cNvPr id="18" name="pos3"/>
          <p:cNvSpPr/>
          <p:nvPr/>
        </p:nvSpPr>
        <p:spPr>
          <a:xfrm>
            <a:off x="6217920" y="251460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277063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27706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dreht auf der Stelle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30175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7 auf 58–65°/s (v4/v5)</a:t>
            </a:r>
            <a:endParaRPr lang="en-US" sz="1300" dirty="0"/>
          </a:p>
        </p:txBody>
      </p:sp>
      <p:sp>
        <p:nvSpPr>
          <p:cNvPr id="23" name="pos4"/>
          <p:cNvSpPr/>
          <p:nvPr/>
        </p:nvSpPr>
        <p:spPr>
          <a:xfrm>
            <a:off x="54864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95935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3822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DC: Katzen-Fußfolge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4206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lateraler Viertakt in v9</a:t>
            </a:r>
            <a:endParaRPr lang="en-US" sz="1300" dirty="0"/>
          </a:p>
        </p:txBody>
      </p:sp>
      <p:sp>
        <p:nvSpPr>
          <p:cNvPr id="28" name="pos5"/>
          <p:cNvSpPr/>
          <p:nvPr/>
        </p:nvSpPr>
        <p:spPr>
          <a:xfrm>
            <a:off x="6217920" y="370332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46520" y="395935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39593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3822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 v10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206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6 Beine im Dreifuß-Takt, 0,53 m/s</a:t>
            </a:r>
            <a:endParaRPr lang="en-US" sz="1300" dirty="0"/>
          </a:p>
        </p:txBody>
      </p:sp>
      <p:sp>
        <p:nvSpPr>
          <p:cNvPr id="33" name="pos6"/>
          <p:cNvSpPr/>
          <p:nvPr/>
        </p:nvSpPr>
        <p:spPr>
          <a:xfrm>
            <a:off x="54864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514807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148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417320" y="50109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Exakte Pipeline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417320" y="5394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Physik → Blender auf 0,01 mm, Hüllen 0 mm</a:t>
            </a:r>
            <a:endParaRPr lang="en-US" sz="1300" dirty="0"/>
          </a:p>
        </p:txBody>
      </p:sp>
      <p:sp>
        <p:nvSpPr>
          <p:cNvPr id="38" name="pos7"/>
          <p:cNvSpPr/>
          <p:nvPr/>
        </p:nvSpPr>
        <p:spPr>
          <a:xfrm>
            <a:off x="6217920" y="4892040"/>
            <a:ext cx="53949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46520" y="5148072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46520" y="5148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86600" y="50109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dokumentiert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3949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Trainingsvideos, Messungen, Protokolle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 Erlebnisse und ihre Lösung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404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passierte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Lösung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35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Stillstand-Falle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Stehen war billiger als Laufen (Pilot, Myr v3, DC v8)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multiplikative Belohnung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Blockierte Gelenke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Knie-Befehl jenseits der Grenze, kein Lernsignal (v2–v4)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Gelenk-Wächter, Befehle zurückschieben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Handstand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stützte sich auf Vorderbeine und Arme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Kipp-Grenze 25°, Arme am Boden kosten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Schubkarre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Myr: Vorderbeine hoch, Mittelbeine paddeln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jedes Bein muss mit, Körper korrigiert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Rauschen als Ruck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Erkundungs-Rauschen drückte Qualität auf 0,06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nach dem Filter messen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 Statistik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Belohnungsnormierung vom alten Maßstab (σ ≈ 95)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Statistik zurücksetzen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Falsche Stürze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Höhenreferenz der Pose statt echter Standhöhe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Standhöhe messen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Volumen ≠ Masse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Hinterleib 54 %: Myr kippte auch im perfekten Takt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C23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halbe Dichte, 37 %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wichtigsten Lehren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447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44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17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prüfen, was Stillstehen unter jedem Befehl verdient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4447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0" y="1444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1417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Belohnungsstrafen multiplizieren, nicht abziehen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560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Rohe Gehirn-Befehle beobachten, nicht nur Gelenkwinkel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25877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560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Körper, dann das Lernen: Masse, Symmetrie, Standhaltung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7307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03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Schritte auf einem laufenden Gehirn schlagen große Sprünge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217920" y="37307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3703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Checkpoint behalten und gegen messbare Ziele testen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873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Gelernte Gewohnheiten überleben Regeländerungen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17920" y="48737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4873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463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zuschauen findet Fehler, die Zahlen verschweigen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A89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Ausblick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Die nächsten Schritte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43708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Myrranox: Vorderbeine sauber aufsetzen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434340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0" y="4343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12280" y="43708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DC: Hinterbein-Takt und Pfote in der Vorderpfoten-Spur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0017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5001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5029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Stufen: Trab → Lauf → Sprint mit den Armen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5001768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5001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5029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Raubtier-Gehirne mit den neuen Läufern nachtrainieren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66013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6601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6875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mit 2 + 2 Kreaturen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5660136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0" y="56601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56875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 &amp; Paper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27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demic Creatures">
  <a:themeElements>
    <a:clrScheme name="Endemic Creatures">
      <a:dk1>
        <a:srgbClr val="1C2321"/>
      </a:dk1>
      <a:lt1>
        <a:srgbClr val="FFFFFF"/>
      </a:lt1>
      <a:dk2>
        <a:srgbClr val="1F3A35"/>
      </a:dk2>
      <a:lt2>
        <a:srgbClr val="EDF2EF"/>
      </a:lt2>
      <a:accent1>
        <a:srgbClr val="D98E04"/>
      </a:accent1>
      <a:accent2>
        <a:srgbClr val="2E7D6B"/>
      </a:accent2>
      <a:accent3>
        <a:srgbClr val="B23A48"/>
      </a:accent3>
      <a:accent4>
        <a:srgbClr val="5B6C8F"/>
      </a:accent4>
      <a:accent5>
        <a:srgbClr val="8FA89B"/>
      </a:accent5>
      <a:accent6>
        <a:srgbClr val="C9B27C"/>
      </a:accent6>
      <a:hlink>
        <a:srgbClr val="2E7D6B"/>
      </a:hlink>
      <a:folHlink>
        <a:srgbClr val="5B6C8F"/>
      </a:folHlink>
    </a:clrScheme>
    <a:fontScheme name="Endemic Creatur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Endemic Creatures - Laufen lernen mit Reinforcement Learning</dc:title>
  <dc:subject>Projektpräsentation</dc:subject>
  <dc:creator>Thomas</dc:creator>
  <cp:lastModifiedBy>Thomas</cp:lastModifiedBy>
  <cp:revision>1</cp:revision>
  <dcterms:created xsi:type="dcterms:W3CDTF">2026-10-13T15:57:01Z</dcterms:created>
  <dcterms:modified xsi:type="dcterms:W3CDTF">2026-10-13T15:57:01Z</dcterms:modified>
</cp:coreProperties>
</file>