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ce475423-7997-dd6a-3b01-b55da3ad8064}">
          <p14:sldIdLst>
            <p14:sldId id="256"/>
            <p14:sldId id="257"/>
            <p14:sldId id="258"/>
          </p14:sldIdLst>
        </p14:section>
        <p14:section name="Aufbau" id="{53fd2bff-0b7a-d3fb-26dc-868cde065d7a}">
          <p14:sldIdLst>
            <p14:sldId id="259"/>
            <p14:sldId id="260"/>
            <p14:sldId id="261"/>
            <p14:sldId id="262"/>
          </p14:sldIdLst>
        </p14:section>
        <p14:section name="Dimensionen &amp; Parameter" id="{9039b307-4538-0c39-278e-e2cb15cfb52b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Regeln" id="{3ea53a1e-a802-49a1-db77-49d6d0ea26f2}">
          <p14:sldIdLst>
            <p14:sldId id="269"/>
            <p14:sldId id="270"/>
            <p14:sldId id="271"/>
            <p14:sldId id="272"/>
            <p14:sldId id="273"/>
          </p14:sldIdLst>
        </p14:section>
        <p14:section name="Prozess" id="{8636b713-7120-e7da-9526-b6c504f725a8}">
          <p14:sldIdLst>
            <p14:sldId id="274"/>
            <p14:sldId id="275"/>
            <p14:sldId id="276"/>
            <p14:sldId id="277"/>
            <p14:sldId id="278"/>
          </p14:sldIdLst>
        </p14:section>
        <p14:section name="DC v12" id="{58ac478f-4a81-45fe-48da-6d94a47fd118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Analyse" id="{98e3bdfc-64ff-9549-43fa-f8adde589a0a}">
          <p14:sldIdLst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Tools &amp; Laufzeiten" id="{db6f1c88-aeac-4dda-8cc7-77c1ac9a6668}">
          <p14:sldIdLst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Erfahrungen" id="{171ba1c7-2bab-a0a9-987e-1125c4c5e102}">
          <p14:sldIdLst>
            <p14:sldId id="299"/>
            <p14:sldId id="300"/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Stunden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 &quot;h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3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Lauf v1–v2</c:v>
                  </c:pt>
                  <c:pt idx="1">
                    <c:v>Raubtier-Gehirne</c:v>
                  </c:pt>
                  <c:pt idx="2">
                    <c:v>Lauf v4–v5c</c:v>
                  </c:pt>
                  <c:pt idx="3">
                    <c:v>Lauf v6–v8</c:v>
                  </c:pt>
                  <c:pt idx="4">
                    <c:v>Lauf v9–v11 (13.10.)</c:v>
                  </c:pt>
                  <c:pt idx="5">
                    <c:v>DC v12 (13./14.10.)</c:v>
                  </c:pt>
                  <c:pt idx="6">
                    <c:v>Showcase-Renderings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6.8</c:v>
                </c:pt>
                <c:pt idx="1">
                  <c:v>5.5</c:v>
                </c:pt>
                <c:pt idx="2">
                  <c:v>5</c:v>
                </c:pt>
                <c:pt idx="3">
                  <c:v>3</c:v>
                </c:pt>
                <c:pt idx="4">
                  <c:v>9.5</c:v>
                </c:pt>
                <c:pt idx="5">
                  <c:v>9</c:v>
                </c:pt>
                <c:pt idx="6">
                  <c:v>20.1</c:v>
                </c:pt>
              </c:numCache>
            </c:numRef>
          </c:val>
        </c:ser>
        <c:dLbls>
          <c:numFmt formatCode="0.0 &quot;h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23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3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Projektüberblick: Myrranox (Ameise, sechs Beine) und DC (Panther mit Zusatzarmen) lernen ihre Bewegungen selbst mit Reinforcement Learning in MuJoCo; Darstellung in Blender.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Simulierte Schritte: Summe aller Lauf- und Raubtier-Trainings inkl. Pilotläufe (Größenordnung). Rechenzeit Lauf-Training: Wandzeit, meist zwei Läufe parallel.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Myrranox: Masse nach Hüllenvolumen × Dichte (Hinterleib ×0,25). DC v12: feste Anteile nach Großkatzen-Vorbild, am 14.10. nach hinten verschoben (vorn/hinten 50/50). Zahlen gerundet.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Abstand = wie weit die Oberfläche der Physik-Teile vom echten Modell abweicht (95 % der Punkte). Links: alte Einzelhüllen (v11), rechts: 218 Teile (v12), über dem Modell und allein.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Vom Eigentümer bereitgestellte Bildschirmaufnahme eines Sketchfab-Wolf-Gangzyklus. Diese Regeln gelten nur beim Gehen bis 1,2 m/s; im Sprint hatten sie die Qualität auf 0 gedrückt.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das echte Modell (rote Punkte: altes Physik-Gelenk), rechts das Rig mit gefaltet/geöffneter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Werte gerundet aus TIME_LOG und Trainingsprotokollen; v9–v10 inkl. der abgebrochenen Stufe-1-Versuche vom 13.10.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Raubtiere lernen in einer Physik-Simulation zu gehen, zu jagen und sich wie ihre Vorbilder zu bewegen · Projektstand 28.10.2026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Projekt in Zahlen</a:t>
            </a:r>
            <a:endParaRPr lang="en-US" sz="3000" dirty="0"/>
          </a:p>
        </p:txBody>
      </p:sp>
      <p:sp>
        <p:nvSpPr>
          <p:cNvPr id="3" name="stat0"/>
          <p:cNvSpPr/>
          <p:nvPr/>
        </p:nvSpPr>
        <p:spPr>
          <a:xfrm>
            <a:off x="54864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Kreaturen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&amp; DC</a:t>
            </a:r>
            <a:endParaRPr lang="en-US" sz="1500" dirty="0"/>
          </a:p>
        </p:txBody>
      </p:sp>
      <p:sp>
        <p:nvSpPr>
          <p:cNvPr id="6" name="stat1"/>
          <p:cNvSpPr/>
          <p:nvPr/>
        </p:nvSpPr>
        <p:spPr>
          <a:xfrm>
            <a:off x="429768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Laufgehirns</a:t>
            </a:r>
            <a:endParaRPr lang="en-US" sz="1500" dirty="0"/>
          </a:p>
        </p:txBody>
      </p:sp>
      <p:sp>
        <p:nvSpPr>
          <p:cNvPr id="9" name="stat2"/>
          <p:cNvSpPr/>
          <p:nvPr/>
        </p:nvSpPr>
        <p:spPr>
          <a:xfrm>
            <a:off x="804672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trainierte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Gehirne</a:t>
            </a:r>
            <a:endParaRPr lang="en-US" sz="1500" dirty="0"/>
          </a:p>
        </p:txBody>
      </p:sp>
      <p:sp>
        <p:nvSpPr>
          <p:cNvPr id="12" name="stat3"/>
          <p:cNvSpPr/>
          <p:nvPr/>
        </p:nvSpPr>
        <p:spPr>
          <a:xfrm>
            <a:off x="54864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185 Mio.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Trainingsschritte</a:t>
            </a:r>
            <a:endParaRPr lang="en-US" sz="1500" dirty="0"/>
          </a:p>
        </p:txBody>
      </p:sp>
      <p:sp>
        <p:nvSpPr>
          <p:cNvPr id="15" name="stat4"/>
          <p:cNvSpPr/>
          <p:nvPr/>
        </p:nvSpPr>
        <p:spPr>
          <a:xfrm>
            <a:off x="429768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Physik-Teile 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DC-Körper (v12)</a:t>
            </a:r>
            <a:endParaRPr lang="en-US" sz="1500" dirty="0"/>
          </a:p>
        </p:txBody>
      </p:sp>
      <p:sp>
        <p:nvSpPr>
          <p:cNvPr id="18" name="stat5"/>
          <p:cNvSpPr/>
          <p:nvPr/>
        </p:nvSpPr>
        <p:spPr>
          <a:xfrm>
            <a:off x="804672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38 h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Rechenzeit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Lauf-Training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Inhalt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Kreaturen, Architektur, Habitat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Dimensionen &amp; Parameter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Körper, Physik, Training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Belohnung: Plus- und Minuspunkte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846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v1 bis v12, Raubtier-Gehirne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v12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Detail-Körper, Wolf, T-Rex-Arme, Hand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2560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Lernkurven, Fußfolgen, Messwerte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17920" y="3703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Laufzeiten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699516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Software, Hardware, Rechenzeit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17920" y="4846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4846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Erfahrungen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Positives, Negatives, Lehren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Aufbau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Kreaturen, Steuerungsarchitektur und Lebensraum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Raubtiere, zwei Vorbilder</a:t>
            </a:r>
            <a:endParaRPr lang="en-US" sz="3000" dirty="0"/>
          </a:p>
        </p:txBody>
      </p:sp>
      <p:sp>
        <p:nvSpPr>
          <p:cNvPr id="3" name="creature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till0" descr="C:\Users\thoma\PycharmProjects\Reinforcement_Learning_Creature\docs\presentation\src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160520"/>
            <a:ext cx="484632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5448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 / Insekt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 Beine × 3 Gelenke (Hüfte, Heben, Knie)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 kg, 1,5 m lang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Gang: Dreifuß (3 Beine am Boden)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Gehen 0,6 m/s · max. 1,2 m/s · dreht auf der Stelle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schwerer Hinterleib (Gaster), Kopf mit Mandibeln</a:t>
            </a:r>
            <a:endParaRPr lang="en-US" sz="1500" dirty="0"/>
          </a:p>
        </p:txBody>
      </p:sp>
      <p:sp>
        <p:nvSpPr>
          <p:cNvPr id="9" name="creature1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till1" descr="C:\Users\thoma\PycharmProjects\Reinforcement_Learning_Creature\docs\presentation\src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4160520"/>
            <a:ext cx="4846320" cy="16916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223760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 mit Zusatzarmen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468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 Beine × 4 Gelenke + 2 Arme × 4 Gelenke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60 kg, 1,3 m hoch, ~2,7 m mit Schwanz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Gang: lateraler Viertakt → Trab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Gehen 0,8 m/s · Trab 2,5 m/s · Sprint 4 m/s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Wirbelsäule, Hals, Kopf aktiv; Schwanz federnd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Hierarchische Steuerung: vom Entschluss zur Bewegung</a:t>
            </a:r>
            <a:endParaRPr lang="en-US" sz="3000" dirty="0"/>
          </a:p>
        </p:txBody>
      </p:sp>
      <p:sp>
        <p:nvSpPr>
          <p:cNvPr id="3" name="arch0"/>
          <p:cNvSpPr/>
          <p:nvPr/>
        </p:nvSpPr>
        <p:spPr>
          <a:xfrm>
            <a:off x="54864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Navigationsgehirn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entscheidet: jagen, rasten, wohin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Ausgabe: Tempo + Drehrate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3639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0" name="arch1"/>
          <p:cNvSpPr/>
          <p:nvPr/>
        </p:nvSpPr>
        <p:spPr>
          <a:xfrm>
            <a:off x="338328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setzt Befehl in Gelenkziele 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7103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7" name="arch2"/>
          <p:cNvSpPr/>
          <p:nvPr/>
        </p:nvSpPr>
        <p:spPr>
          <a:xfrm>
            <a:off x="621792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7373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 Gleichgewicht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Netz-Körper aus dem Modell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80567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24" name="arch3"/>
          <p:cNvSpPr/>
          <p:nvPr/>
        </p:nvSpPr>
        <p:spPr>
          <a:xfrm>
            <a:off x="905256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5440" y="1737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354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fps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Knochen folgen den Gelenkwinkeln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Kameras, HUD, Rendering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sind neuronale Netze (2 × 256 Neuronen), trainiert mit PPO. Das Laufgehirn lernt nur aus Belohnung und Strafe, ohne vorgegebene Animation (Entscheidung vom 25.09.).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Lebensraum und Spielregeln</a:t>
            </a:r>
            <a:endParaRPr lang="en-US" sz="3000" dirty="0"/>
          </a:p>
        </p:txBody>
      </p:sp>
      <p:sp>
        <p:nvSpPr>
          <p:cNvPr id="3" name="habitat"/>
          <p:cNvSpPr/>
          <p:nvPr/>
        </p:nvSpPr>
        <p:spPr>
          <a:xfrm>
            <a:off x="548640" y="1371600"/>
            <a:ext cx="530352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 100 × 100 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2 Reviere (Radius 28 m), überlappen an einer Wasserstelle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6 Rastplätze, 14 Felsen, Mauern (Showcase ohne Felsen)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Beute: rote Punkte, wandern 0,15 m/s, fliehen 0,35 m/s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Je Revier 5 Beute, 3 neutral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Bedürfnisse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Hunger steigt mit Energieverbrauch, Beute −0,5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Müdigkeit: ab 100 % nur noch 30 % Tempo</a:t>
            </a:r>
            <a:endParaRPr lang="en-US" sz="1400" dirty="0"/>
          </a:p>
        </p:txBody>
      </p:sp>
      <p:sp>
        <p:nvSpPr>
          <p:cNvPr id="8" name="rules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Revier-Regeln (Eigentümer-Entscheidungen)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05740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 im eigenen Revier gefressen: kommt nicht zurück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 im fremden Revier gefressen: erscheint im eigenen Revier neu (Raubzüge bringen Futter heim)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Neutrale Beute: kommt nach 60–120 s zurück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Beide dürfen ins fremde Revier, kleiner Malus (−0,01 pro 0,1 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Rivale ist im Training anwesend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Dimensionen &amp; Parameter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Körper, Physik und Trainings-Einstellungen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Körper in Zahlen (Stand: Myrranox v10, DC v12)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490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Masse / Größe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kg · 1,5 m lang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kg · 1,3 m hoch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Gliedmaßen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Beine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Beine + 2 Arme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Gelenkmotoren (Aktionen)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(Beine 16, Arme 8, Wirbelsäule 2, Hals/Kopf 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Federgelenke (passiv)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2, Kopf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Schwanz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Beobachtung (Eingänge)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Werte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Werte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Physik-Formen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Netz-Hüllen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 Teile aus dem Detail-Modell (CoACD)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Gewichtsverteilung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23 % (Dichte ×0,25), Brust, Kopf, Beine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Brust 29 %, Heck 23 %, Hinterbeine 18 %, Vorderbeine 12 %, Arme 6 %, Schwanz 5,5 %, Hals+Kopf 6,5 %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Befehlsbereich je Gelenk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Beine ±34°, Arme ±17° (T-Rex-Haltung), Wirbelsäule ±14°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(Gehen / max.)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/ 1,2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/ 2,5 m/s (Sprint 4,0)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Physik-Körper aus dem echten Modell: Myrranox</a:t>
            </a:r>
            <a:endParaRPr lang="en-US" sz="3000" dirty="0"/>
          </a:p>
        </p:txBody>
      </p:sp>
      <p:pic>
        <p:nvPicPr>
          <p:cNvPr id="3" name="myr_hulls" descr="C:\Users\thoma\PycharmProjects\Reinforcement_Learning_Creature\docs\presentation\src\myrranox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741580"/>
          </a:xfrm>
          <a:prstGeom prst="rect">
            <a:avLst/>
          </a:prstGeom>
        </p:spPr>
      </p:pic>
      <p:sp>
        <p:nvSpPr>
          <p:cNvPr id="4" name="myr_hull_text"/>
          <p:cNvSpPr/>
          <p:nvPr/>
        </p:nvSpPr>
        <p:spPr>
          <a:xfrm>
            <a:off x="7132320" y="1280160"/>
            <a:ext cx="4480560" cy="475488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60920" y="1508760"/>
            <a:ext cx="4069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Pro Knochen eine konvexe Hülle direkt aus dem Netz geschnitten (blau)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Krallen sind die Füße: Kontakt an der echten Sohle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Rechte Beine = Spiegelbild der linken (Modell war 3 cm asymmetrisch)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Hinterleib mit ¼ Dichte: 54 % → 23 % Gewicht, Schwerpunkt nach vorn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Federn skalieren mit der echten Masse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Physik-Körper aus dem echten Modell: DC</a:t>
            </a:r>
            <a:endParaRPr lang="en-US" sz="3000" dirty="0"/>
          </a:p>
        </p:txBody>
      </p:sp>
      <p:pic>
        <p:nvPicPr>
          <p:cNvPr id="3" name="dc_hulls" descr="C:\Users\thoma\PycharmProjects\Reinforcement_Learning_Creature\docs\presentation\src\dc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741580"/>
          </a:xfrm>
          <a:prstGeom prst="rect">
            <a:avLst/>
          </a:prstGeom>
        </p:spPr>
      </p:pic>
      <p:sp>
        <p:nvSpPr>
          <p:cNvPr id="4" name="dc_hull_text"/>
          <p:cNvSpPr/>
          <p:nvPr/>
        </p:nvSpPr>
        <p:spPr>
          <a:xfrm>
            <a:off x="7132320" y="1280160"/>
            <a:ext cx="4480560" cy="475488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60920" y="1508760"/>
            <a:ext cx="4069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24 Hüllen statt 30 Kapseln, Platzierung exakt (0 mm Fehler)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Stacheln und Hörner abgeschnitten: kein Volumen ohne Masse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Rumpf am Wirbelsäulengelenk geteilt, Schulterbuckel zur Brust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Arme als echte Gliedmaßen: Schulter, Ellbogen, Handgelenk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Beine seitlich nur ±8°: Pfoten unter dem Körper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Natürliche Standhaltung als Nullpunkt</a:t>
            </a:r>
            <a:endParaRPr lang="en-US" sz="3000" dirty="0"/>
          </a:p>
        </p:txBody>
      </p:sp>
      <p:pic>
        <p:nvPicPr>
          <p:cNvPr id="3" name="pose" descr="C:\Users\thoma\PycharmProjects\Reinforcement_Learning_Creature\docs\figures\standing_pose_v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4440555"/>
          </a:xfrm>
          <a:prstGeom prst="rect">
            <a:avLst/>
          </a:prstGeom>
        </p:spPr>
      </p:pic>
      <p:sp>
        <p:nvSpPr>
          <p:cNvPr id="4" name="pose_text"/>
          <p:cNvSpPr/>
          <p:nvPr/>
        </p:nvSpPr>
        <p:spPr>
          <a:xfrm>
            <a:off x="7589520" y="1280160"/>
            <a:ext cx="4023360" cy="443484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8745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Gehirne mussten Gelenke an die Grenze drücken, nur um richtig zu stehen; für das Laufen blieb kein Spielraum.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315468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Myrranox: vorn/Mitte 6 cm, hinten 12 cm höher → eben, alle 6 Füße am Boden, Hinterleib frei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DC: Arme angelegt, Vorderbeine 3 cm länger → Neigung 4,1°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Trainings-Parameter (PPO)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PPO (Stable-Baselines3) + Symmetrie-Verlust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Links/rechts gespiegelte Situationen → gespiegelte Antwort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256 Neuronen, ELU, getrennt für Aktion/Wert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und vf je 256-256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Parallele Welten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Umgebungen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SubprocVecEnv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/ Batch / Epochen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Schritte × 8 / 1024 /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4096 Schritte pro 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Lernrate · γ · λ · Clip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3·10⁻⁴ · 0,99 · 0,95 · 0,2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target_kl 0,03, max_grad_norm 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Normierung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VecNormalize (Beobachtung + Belohnung)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Belohnungswechsel zurücksetzen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Physik 200 Hz, Steuerung 50 Hz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Physikschritte pro Entscheidung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Aktionsfilter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 += 0,5 · (Aktion − Ziel)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5,5 Hz Grenzfrequenz: keine Sprünge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 = 1000 Schritte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Befehle wechseln alle 2–5 s, als Rampe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250.000 Schritte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behalten (Videos, Rückfall)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Regeln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Wofür es Punkte gibt und wofür Abzug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Belohnungsformel (Version 9)</a:t>
            </a:r>
            <a:endParaRPr lang="en-US" sz="3000" dirty="0"/>
          </a:p>
        </p:txBody>
      </p:sp>
      <p:sp>
        <p:nvSpPr>
          <p:cNvPr id="3" name="formula0"/>
          <p:cNvSpPr/>
          <p:nvPr/>
        </p:nvSpPr>
        <p:spPr>
          <a:xfrm>
            <a:off x="54864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und Drehung wie befohlen; Toleranz wächst mit dem Befehl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200" dirty="0"/>
          </a:p>
        </p:txBody>
      </p:sp>
      <p:sp>
        <p:nvSpPr>
          <p:cNvPr id="8" name="formula1"/>
          <p:cNvSpPr/>
          <p:nvPr/>
        </p:nvSpPr>
        <p:spPr>
          <a:xfrm>
            <a:off x="434340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 + 0,8 × Tierähnlichkeit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 … 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Gangtakt, Beinrhythmus, Tiermerkmale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200" dirty="0"/>
          </a:p>
        </p:txBody>
      </p:sp>
      <p:sp>
        <p:nvSpPr>
          <p:cNvPr id="13" name="formula2"/>
          <p:cNvSpPr/>
          <p:nvPr/>
        </p:nvSpPr>
        <p:spPr>
          <a:xfrm>
            <a:off x="813816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6676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Qualität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exp(−Σ Kosten): Ruck, Energie, Rutschen, Kippen …</a:t>
            </a:r>
            <a:endParaRPr lang="en-US" sz="1300" dirty="0"/>
          </a:p>
        </p:txBody>
      </p:sp>
      <p:sp>
        <p:nvSpPr>
          <p:cNvPr id="17" name="why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multiplizieren statt abziehen?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Früher wurden Strafen abgezogen: Bei voller Stärke verlor Stillstehen weniger als Laufen, und die Gehirne blieben stehen (Myrranox v3, DC v8). Jetzt verkleinern Strafen nur die Punkte, die Laufen einbringt. Wer bei Lauf-Befehl stillsteht, bekommt fast nichts. Ein Sturz (Neigung &gt; 25°) beendet die Episode mit −10.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Pluspunkte: wie ein echtes Tier laufen</a:t>
            </a:r>
            <a:endParaRPr lang="en-US" sz="3000" dirty="0"/>
          </a:p>
        </p:txBody>
      </p:sp>
      <p:sp>
        <p:nvSpPr>
          <p:cNvPr id="3" name="plus0"/>
          <p:cNvSpPr/>
          <p:nvPr/>
        </p:nvSpPr>
        <p:spPr>
          <a:xfrm>
            <a:off x="548640" y="1371600"/>
            <a:ext cx="539496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002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(Insekt)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Dreifuß-Takt: zwei Dreiergruppen im Wechsel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Hüftschwung 30–40°, Knie im Schwung 40–60° gebeugt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Vorderbeine greifen vor, Hinterbeine schieben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Drehen auf der Stelle: Seiten gegenläufig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Füße heben und setzen im Takt der Gangtakt-Uhr</a:t>
            </a:r>
            <a:endParaRPr lang="en-US" sz="1500" dirty="0"/>
          </a:p>
        </p:txBody>
      </p:sp>
      <p:sp>
        <p:nvSpPr>
          <p:cNvPr id="8" name="plus1"/>
          <p:cNvSpPr/>
          <p:nvPr/>
        </p:nvSpPr>
        <p:spPr>
          <a:xfrm>
            <a:off x="6217920" y="1371600"/>
            <a:ext cx="539496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002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(Panther)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Lateraler Viertakt: hinten L → vorn L → hinten R → vorn 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Langsame, lange Schritte (~1 Schritt/s beim Gehen)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Hinterpfote landet in der Spur der Vorderpfote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Wolf-Vorbild: tiefer Kopf, Pfoten flach und niedrig, Handgelenk klappt im Schwung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Arme wie ein T-Rex vor der Brust, nie am Boden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beide: Tempo und Drehung treffen (Tracking) · alle Gewichte als Tierähnlichkeit gemittelt (Gangtakt, Rhythmus, Pfotenspur, Arme)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Abzüge: Qualitätskosten (Gewicht c je Kostenart)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85800"/>
                <a:gridCol w="2788920"/>
                <a:gridCol w="2240280"/>
                <a:gridCol w="822960"/>
                <a:gridCol w="2423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Gemessen 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Gemessen 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mechanische Leistung / (m·g·v)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 rollen/nicken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Winkelgeschwindigkeit²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(Gelenkbeschleunigung / 500)²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vertikale Rumpfgeschwindigkeit²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Befehlssprünge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 der gefilterten Ziele²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statische Neigung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Rutschen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Fußgeschwindigkeit am Boden²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Beschleunigungs-Pumpen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Tempoänderung im Schritt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Aufsetzen nach &lt; halbem Schwung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Harte Landung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vertikale Fußgeschw.²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Unbenutztes Bein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 Zyklen ohne Bodenkontakt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Zappeln im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Gelenkgeschw.² bei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DC, beim Gehen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Pfotenspur zu breit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breiter als im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 wackelt/kippt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0,02/2,0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Körperkontakt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 an Grenze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Anteil nahe Grenze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 = exp(−Σ c · Kosten). Viele Gewichte wurden nach Messungen verschärft (z. B. Kippen und Wippen ×3, Rutschen und Tippen ×3).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Harte Regeln, Lehrpläne und Hilfen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17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Sturz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4356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Neigung &gt; 25° oder Rumpf zu tief → Episode endet, −10 (verhindert z. B. den DC-Handstand)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Strafen-Rampe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121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starten bei 20 % und steigen bis 40 % der Trainingszeit auf 100 %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Toleranz-Rampe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28072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Tempo-Toleranz wird zwischen 20 % und 80 % des Laufs strenger (1,0 → 0,5–0,7)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Befehls-Stufen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34930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--max-command: erst Gehen, dann Trab, Lauf, Sprint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60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Laufhilfe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41788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für jede Vorwärtsbewegung, ausgeblendet über 1,5 Mio. Schritte; nie für Stillstand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846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Gelenk-Wächter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48646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Gelenke, deren Befehl dauerhaft jenseits der Grenze liegt (kein Lernsignal mehr)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486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532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Schrittgenerator (Myr v10)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114800" y="5550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Dreifuß-Rhythmus fest vorgegeben, Gehirn korrigiert bis ±26°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Prozess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Vom ersten Schritt bis zum Tiergang: zehn Versionen in drei Wochen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Zeitachse des Projekts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3154680"/>
            <a:ext cx="10607040" cy="0"/>
          </a:xfrm>
          <a:prstGeom prst="line">
            <a:avLst/>
          </a:prstGeom>
          <a:noFill/>
          <a:ln w="25400">
            <a:solidFill>
              <a:srgbClr val="8FA8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23.09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57784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Blender-Grundlage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22576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46504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25.09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v1 + v2, erste Raubtier-Gehirne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47872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08376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Raubtiere jagen, Showcase, Körper v3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73168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97096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28.09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233672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präzise &amp; flüssig, Showcase-Videos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98464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22392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29.09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natürlicher Stil, Knie befreit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23760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7688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30.09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84264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v6–v8: sechsgliedriger DC, Netz-Körper, Sprint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449056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72984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909560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v9–v11: neue Belohnung, Dreifuß-Generator, Myrranox final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74352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9828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14.10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34856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v12: Detail-Körper, Wolf, T-Rex-Arme, Hand; DC final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899648" y="2971800"/>
            <a:ext cx="365760" cy="365760"/>
          </a:xfrm>
          <a:prstGeom prst="ellipse">
            <a:avLst/>
          </a:prstGeom>
          <a:solidFill>
            <a:srgbClr val="D98E0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23576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21.10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360152" y="356616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v6 mit den finalen Läufern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69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Kalenderzeit 23.09.–28.10. · 10 Arbeitstage · Trainings und Renderings liefen oft über Nacht oder parallel zur Entwicklung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Laufgehirn-Versionen v1–v5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4572000"/>
                <a:gridCol w="4663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Tempo-Belohnung, breite Toleranz, Strafen-Rampe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beide laufen; Pilotläufe vorher: Stillstand-Falle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Gangtakt-Uhr, Dreifuß / Schritt→Trab, Spiegel-Symmetrie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natürlicher Gang, ~5× (Myr) / 2,4× (DC) weniger Energie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Wirbelsäule, Hals, Kopf aktiv; ruhiger Kopf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Kopfwackeln −41 %; Myrranox: Stillstand (gescheitert)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Aktionsfilter, Toleranz-Rampe, Befehlsrampen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 dreht auf der Stelle 7 → 58°/s; −25 % Ruck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Rhythmus-Referenz, Knie-Entlastung, Panther-Schritt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 Knie 4,5° → 20° (war blockiert seit v2)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 ×3, strenges Tempo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DC-Standard: 0,62 m Schritt, Kopf im Bild stabilisiert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Laufgehirn-Versionen v6–v12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4572000"/>
                <a:gridCol w="46634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mit 6 Gliedmaßen, Beine ±8°, strengere Takt-Regeln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Gehirn-Transplantat stand still; von Null abgebrochen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Schrittgenerator für den DC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Rhythmus allein: Sturz alle 1,5 s (Vierbeiner instabil)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DC-Netz-Körper, Sprint 4 m/s, Brems-Rampen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Handstand; Kollaps bei 3,2 Mio. (Strafen voll)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Multiplikative Belohnung, Netz-Körper beide, Standhaltung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Katzen-Fußfolge, 0,70 m/s; Myr: Schubkarre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Myr: Dreifuß-Generator + Korrekturen, leichter Hinterleib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 final: 0,52 / 1,08 m/s, rückwärts, Knie 60°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Großkatzen-Gewichte, runde Pfotenpolster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 Trippeln mehr, aber langsam (0,23 m/s)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218-Teile-Körper, Wolf-Regeln, T-Rex-Arme, neue Hand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final (v12z): flüssig, Sprint 4 m/s, bremst sicher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28.10.: Beide Läufer sind final (Eigentümer-Entscheidungen): Myrranox v10 (13.10.) und DC v12z (14.10.).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Raubtier-Gehirne: vom Verhungern zum Jagen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  <a:gridCol w="3291840"/>
                <a:gridCol w="3566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Versuch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Lehre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Belohnung laut 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blieb daheim, verhungerte (0 Beute)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 und Verhungern kaum unterscheidbar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satt + jeder Fang + Jagd-Hinweis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 still (0 Beute)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halber Aktionsbereich hieß „Stopp“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voller Tempobereich, Flucht-Lehrplan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→ 2,5 Beute / 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Erkunden ermöglichen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1, 3 Mio. Schritte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4,0–4,4 Beute / 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seltene Lagen werden selten gelernt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Vorrat, Eindringling, Hungertage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freigegeben: 4,6 Beute, rastet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 ermüdet 2× schneller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Freigegeben: DC dc_brain_v4_r1 · Myrranox myr_brain_v3_r1. Raubzüge und Revierverteidigung wurden von keinem Gehirn gelernt. Spiel-Idee „3 Min jagen, dann 30 s zum Wasserloch“ (14.10.) gebaut und verworfen.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DC v12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Körper wie das echte Modell, Wolf als Vorbild, Arme wie ein T-Rex, neue Hand (13./14.10.)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Physik-Körper so nah wie möglich am Modell</a:t>
            </a:r>
            <a:endParaRPr lang="en-US" sz="3000" dirty="0"/>
          </a:p>
        </p:txBody>
      </p:sp>
      <p:pic>
        <p:nvPicPr>
          <p:cNvPr id="3" name="dc_v12_body" descr="C:\Users\thoma\PycharmProjects\Reinforcement_Learning_Creature\docs\figures\dc_physics_body_v11_vs_v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343400" cy="5150031"/>
          </a:xfrm>
          <a:prstGeom prst="rect">
            <a:avLst/>
          </a:prstGeom>
        </p:spPr>
      </p:pic>
      <p:sp>
        <p:nvSpPr>
          <p:cNvPr id="4" name="dc_v12_body_text"/>
          <p:cNvSpPr/>
          <p:nvPr/>
        </p:nvSpPr>
        <p:spPr>
          <a:xfrm>
            <a:off x="5166360" y="1188720"/>
            <a:ext cx="6446520" cy="4892040"/>
          </a:xfrm>
          <a:prstGeom prst="roundRect">
            <a:avLst>
              <a:gd name="adj" fmla="val 14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94960" y="13716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Detail-Skulptur (953.000 Punkte) pro Knochen in konvexe Teile zerlegt (CoACD, wie MuJoCo-Modellsammlung)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218 Teile statt 24 Blöcke: Stacheln, Hörner, offenes Maul, Schulterbuckel, Bauchlinie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Stacheln und Hörner mit ⅓ Dichte (sonst Schwerpunkt 9 cm höher)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Simulation fast gleich schnell: 1.235 statt 1.311 Schritte/s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3703320"/>
          <a:ext cx="5989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Abstand zum Modell vorher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 / Hals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18,1 / 13,4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/ 4,3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Oberschenkel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7,7–10,9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3,1–4,2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 /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 / 3,9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 / 1,4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Vorbild: Gangzyklus eines Wolfs</a:t>
            </a:r>
            <a:endParaRPr lang="en-US" sz="3000" dirty="0"/>
          </a:p>
        </p:txBody>
      </p:sp>
      <p:pic>
        <p:nvPicPr>
          <p:cNvPr id="3" name="wolf" descr="C:\Users\thoma\PycharmProjects\Reinforcement_Learning_Creature\docs\figures\wolf_reference_fram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11064240" cy="32360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Jedes Bein einmal pro Zyklus: vorn und hinten gleicher Takt (DC hatte hinten getrippelt)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Immer 2–3 Pfoten am Boden, Pfoten nur ~8 cm angehoben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Vorderes Handgelenk klappt im Schwung unter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Rücken eben, Kopf tief und nach vorn (Hals-Ruhehaltung 16° tiefer)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Arme wie ein T-Rex, Gewicht nach hinten</a:t>
            </a:r>
            <a:endParaRPr lang="en-US" sz="3000" dirty="0"/>
          </a:p>
        </p:txBody>
      </p:sp>
      <p:pic>
        <p:nvPicPr>
          <p:cNvPr id="3" name="trex" descr="C:\Users\thoma\PycharmProjects\Reinforcement_Learning_Creature\docs\figures\dc_trex_arms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035040" cy="3960495"/>
          </a:xfrm>
          <a:prstGeom prst="rect">
            <a:avLst/>
          </a:prstGeom>
        </p:spPr>
      </p:pic>
      <p:sp>
        <p:nvSpPr>
          <p:cNvPr id="4" name="trex_text"/>
          <p:cNvSpPr/>
          <p:nvPr/>
        </p:nvSpPr>
        <p:spPr>
          <a:xfrm>
            <a:off x="6858000" y="1188720"/>
            <a:ext cx="4754880" cy="489204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08660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086600" y="1783080"/>
            <a:ext cx="4343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Oberarm nach vorn, Hände vor der Brust, über dem Schwung der Vorderbeine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Unterarm/Hand stoßen physisch an die Vorderbeine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Nur ±17° Spielraum zum Ausbalancieren (Gehirn hielt die Handgelenke sonst 70–90° geknickt)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866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 (DC kippte vorn über)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4251960"/>
            <a:ext cx="4343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Hinterbeine 7,5 → 9 % je Bein, Schwanz 3 → 5,5 %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Kopf 4 → 2,5 %, Hals 5 → 4 %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vorn/hinten 55/45 → 50/50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Hand neu modelliert</a:t>
            </a:r>
            <a:endParaRPr lang="en-US" sz="3000" dirty="0"/>
          </a:p>
        </p:txBody>
      </p:sp>
      <p:pic>
        <p:nvPicPr>
          <p:cNvPr id="3" name="hand_real" descr="C:\Users\thoma\PycharmProjects\Reinforcement_Learning_Creature\docs\figures\dc_hand_real_model_clos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291840" cy="3291840"/>
          </a:xfrm>
          <a:prstGeom prst="rect">
            <a:avLst/>
          </a:prstGeom>
        </p:spPr>
      </p:pic>
      <p:pic>
        <p:nvPicPr>
          <p:cNvPr id="4" name="hand_rig" descr="C:\Users\thoma\PycharmProjects\Reinforcement_Learning_Creature\docs\figures\dc_hand_v12_rig_folded_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188720"/>
            <a:ext cx="6583680" cy="3291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6634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Problem: Im Modell hängt die Hand wie ein Haken unter dem gebogenen Unterarm. Das Physik-Handgelenk saß 10 cm zu hoch in der Biegung – die Hand konnte sich nie öffnen.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Lösung: Handgelenk an der echten Stelle, Hand vom Gelenk zu den Fingerspitzen, öffnet bis 250° (Handfläche zum Boden); Kontaktpolster auf der Handfläche.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Blender-Rig gleich umgebaut (Knochen + Gewichte), Physik-Teile der Hand neu: 3,9 → 1,4 cm Abstand.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Arme im Sprint: versucht und verworfen</a:t>
            </a:r>
            <a:endParaRPr lang="en-US" sz="3000" dirty="0"/>
          </a:p>
        </p:txBody>
      </p:sp>
      <p:pic>
        <p:nvPicPr>
          <p:cNvPr id="3" name="sprint_pose" descr="C:\Users\thoma\PycharmProjects\Reinforcement_Learning_Creature\docs\figures\dc_sprint_pose_pal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937760" cy="3240405"/>
          </a:xfrm>
          <a:prstGeom prst="rect">
            <a:avLst/>
          </a:prstGeom>
        </p:spPr>
      </p:pic>
      <p:sp>
        <p:nvSpPr>
          <p:cNvPr id="4" name="sprint_text"/>
          <p:cNvSpPr/>
          <p:nvPr/>
        </p:nvSpPr>
        <p:spPr>
          <a:xfrm>
            <a:off x="5760720" y="1188720"/>
            <a:ext cx="5852160" cy="4892040"/>
          </a:xfrm>
          <a:prstGeom prst="roundRect">
            <a:avLst>
              <a:gd name="adj" fmla="val 14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89320" y="141732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Idee: ab 2 m/s laufen die Arme mit, Brust 9 cm tiefer, Handflächen flach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Weiches Handgelenk + Handflächen-Reflex, Handflächen- und Duck-Regel, eigenes Arm-Gehirn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Ergebnis: DC bäumte sich auf (Nase 11° hoch), Hände nur auf den Fingerspitzen (−61°)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Im Sprint mit vollen Strafen verlernte das Gehirn sogar das Gehen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</a:rPr>
              <a:t>Entscheidung: keine Arme im Sprint – T-Rex-Arme bei jedem Tempo, Sprint auf vier Beinen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Trainings-Stufen DC v12 (13./14.10.)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218-Teile-Körper, Wolf-Regeln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 / 0,71 m/s, Takt sehr gleichmäßig, Hals am Anschlag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Kopf-Ruhehaltung tiefer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Beine nach innen gezogen, 0,11 m/s (2 Regelfehler)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Regelfehler behoben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bestes Gehen: 0,45 / 0,73 m/s, Takt ±1–5 %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v12d–f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T-Rex-Arme, Gewicht nach hinten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 / 0,61 m/s, Takt ±1 %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v12s /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Sprint-Stufe, neue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Gehen 0,63 / 0,81 m/s; Hände auf Fingerspitzen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v12p / 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Handflächen-, Duck-Regel, Reflex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Aufbäumen; v12q verlernt Gehen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dc_arms_v1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eigenes Arm-Gehirn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gestoppt: Arme raus aus dem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v12u–w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auf vier Beinen; Planke = Sturz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Planke weg, Sprint 2,2 m/s, aber kein langsames Gehen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v12x–z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Anlaufhilfe, Glätten (Wippen, Takt)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final: flüssig, 0,59–3,6 m/s, bremst ohne Sturz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bei Befehl 0,6 / 1,0 m/s, Sprint bei 2,5 / 4,0 m/s. Laptop schlief mehrmals ein / Sitzung endete: ≈ 9 h Training verloren.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finale DC (v12z): Planke weg, Gang geglättet</a:t>
            </a:r>
            <a:endParaRPr lang="en-US" sz="3000" dirty="0"/>
          </a:p>
        </p:txBody>
      </p:sp>
      <p:sp>
        <p:nvSpPr>
          <p:cNvPr id="3" name="plank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1: „Planke“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Beim Stehen und langsamen Gehen: Beine weit gespreizt, Rumpf 16–18 cm tief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Sehr stabil, also billig – keine Regel verlangte eine natürliche Haltung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Lösung: Rumpf &gt; 12 cm zu tief = Sturz; Haltungs-Kosten ohne Deckel</a:t>
            </a:r>
            <a:endParaRPr lang="en-US" sz="1300" dirty="0"/>
          </a:p>
        </p:txBody>
      </p:sp>
      <p:sp>
        <p:nvSpPr>
          <p:cNvPr id="6" name="clunky"/>
          <p:cNvSpPr/>
          <p:nvPr/>
        </p:nvSpPr>
        <p:spPr>
          <a:xfrm>
            <a:off x="6217920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2: „klobig statt flüssig“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8308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Kurze hastige Schritte (0,28 m), Takt ±37 %, 6 cm Wippen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Ursache: Anlaufhilfe belohnte jedes Vorwärts-Ruckeln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Lösung: Glätt-Stufe – 70 % Gehen, Wippen und Tempo-Schwanken teurer, Takt doppelt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017520"/>
                <a:gridCol w="27432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Schritte/s · Takt-Schwankung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Schrittlänge · Wippen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 ± 0,14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 · 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 m · 1,8 cm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 ± 0,17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 · 1 %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 m · 2,0 cm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/ 4,0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 / 3,56 m/s (Spitze 4,1–4,2)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 · 2 %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m · 1,7 cm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Bremsen aus 4 m/s: 3 von 3 ohne Sturz · Kurven +31 / −28 °/s · keine Stürze · schwach: Drehen auf der Stelle (33 statt 57 °/s)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· Analyse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Lernkurven, Fußfolgen und Messwerte gegen die Ziele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Lernkurven der Lauf-Trainings</a:t>
            </a:r>
            <a:endParaRPr lang="en-US" sz="3000" dirty="0"/>
          </a:p>
        </p:txBody>
      </p:sp>
      <p:pic>
        <p:nvPicPr>
          <p:cNvPr id="3" name="lc_myr" descr="C:\Users\thoma\PycharmProjects\Reinforcement_Learning_Creature\docs\figures\locomotion\learning_curves_myrran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3022600"/>
          </a:xfrm>
          <a:prstGeom prst="rect">
            <a:avLst/>
          </a:prstGeom>
        </p:spPr>
      </p:pic>
      <p:pic>
        <p:nvPicPr>
          <p:cNvPr id="4" name="lc_dc" descr="C:\Users\thoma\PycharmProjects\Reinforcement_Learning_Creature\docs\figures\locomotion\learning_curves_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40680" cy="3022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262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pro Episode über die Trainingsschritte, alle Läufe inkl. gescheiterter Pilotläufe. Werte zwischen Versionen nicht vergleichbar, die Belohnung änderte sich jedes Mal.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Fußfolge-Diagramme aller Gehirne</a:t>
            </a:r>
            <a:endParaRPr lang="en-US" sz="3000" dirty="0"/>
          </a:p>
        </p:txBody>
      </p:sp>
      <p:pic>
        <p:nvPicPr>
          <p:cNvPr id="3" name="ff_myr" descr="C:\Users\thoma\PycharmProjects\Reinforcement_Learning_Creature\docs\figures\gait\overview_myrran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400800" cy="3890394"/>
          </a:xfrm>
          <a:prstGeom prst="rect">
            <a:avLst/>
          </a:prstGeom>
        </p:spPr>
      </p:pic>
      <p:pic>
        <p:nvPicPr>
          <p:cNvPr id="4" name="ff_dc" descr="C:\Users\thoma\PycharmProjects\Reinforcement_Learning_Creature\docs\figures\gait\overview_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234440"/>
            <a:ext cx="4434840" cy="35652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 = Fuß am Boden, je 8 s. Links Myrranox (Gehen, Vollgas, Drehen auf der Stelle), rechts DC (Gehen, Trab).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Messung gegen die Ziele: Myrranox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560320"/>
                <a:gridCol w="2560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Messwert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(vorher)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v10 (final)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Gehen / Vollgas (Befehl 0,6 / 1,2)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 / 1,13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 / 1,08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/ 1,2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Drehen gehend / auf der Stelle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+65 −58 / 65 °/s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+57 −49 / 56 °/s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±54 / 72 °/s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Rückwärts (Befehl −0,3)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−0,01 (nie gelernt)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−0,26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Rumpfneigung / Wippen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2,0° / 1,4 cm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Knie / Hüftschwung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20° / 24°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60° / 28°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40–60° / 30–40°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Dreifuß-Gruppen im Wechsel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am Boden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Stürze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Punkt (als final akzeptiert): Vorderbeine nur 21 % am Boden und trippeln 5–6 Schritte/s.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Messung gegen die Ziele: DC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1737360"/>
                <a:gridCol w="2377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Messwert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 (13.10.)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v12z (final)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bei Befehl 0,6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bei Befehl 1,0 / Sprint 4,0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 (bei 1,2)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 / 3,56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/ 4,0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Schritte/s je Bein (Gehen)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hinten 2–4 (Trippeln)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alle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1,07–1,12, Takt ±1–9 %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1, gleich vorn/hinten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Rumpfneigung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Körper-Form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Hüllen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Hüllen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 Teile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 das Modell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angelegt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angelegt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T-Rex vor der Brust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T-Rex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Stürze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Erreicht: flüssiger Wolfs-ähnlicher Gang, Sprint und sicheres Bremsen. Schwach: Drehen auf der Stelle; Hinterpfote nicht in der Vorderpfoten-Spur.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Analysewerkzeuge</a:t>
            </a:r>
            <a:endParaRPr lang="en-US" sz="3000" dirty="0"/>
          </a:p>
        </p:txBody>
      </p:sp>
      <p:sp>
        <p:nvSpPr>
          <p:cNvPr id="3" name="tool0"/>
          <p:cNvSpPr/>
          <p:nvPr/>
        </p:nvSpPr>
        <p:spPr>
          <a:xfrm>
            <a:off x="548640" y="1371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precision_metrics.py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47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 und Drehfehler pro Befehlsabschnitt</a:t>
            </a:r>
            <a:endParaRPr lang="en-US" sz="1300" dirty="0"/>
          </a:p>
        </p:txBody>
      </p:sp>
      <p:sp>
        <p:nvSpPr>
          <p:cNvPr id="6" name="tool1"/>
          <p:cNvSpPr/>
          <p:nvPr/>
        </p:nvSpPr>
        <p:spPr>
          <a:xfrm>
            <a:off x="6217920" y="1371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81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style_metrics.py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847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Bewegungsumfang, Schrittlänge, Fußhöhe, Pfotenspur</a:t>
            </a:r>
            <a:endParaRPr lang="en-US" sz="1300" dirty="0"/>
          </a:p>
        </p:txBody>
      </p:sp>
      <p:sp>
        <p:nvSpPr>
          <p:cNvPr id="9" name="tool2"/>
          <p:cNvSpPr/>
          <p:nvPr/>
        </p:nvSpPr>
        <p:spPr>
          <a:xfrm>
            <a:off x="548640" y="2514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24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alive_metrics.py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Kopf- und Rumpfwackeln, Ruck, Energie</a:t>
            </a:r>
            <a:endParaRPr lang="en-US" sz="1300" dirty="0"/>
          </a:p>
        </p:txBody>
      </p:sp>
      <p:sp>
        <p:nvSpPr>
          <p:cNvPr id="12" name="tool3"/>
          <p:cNvSpPr/>
          <p:nvPr/>
        </p:nvSpPr>
        <p:spPr>
          <a:xfrm>
            <a:off x="6217920" y="2514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624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gait_analysis.py / gait_overview.py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90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Fußfolge-Diagramme aller Gehirne</a:t>
            </a:r>
            <a:endParaRPr lang="en-US" sz="1300" dirty="0"/>
          </a:p>
        </p:txBody>
      </p:sp>
      <p:sp>
        <p:nvSpPr>
          <p:cNvPr id="15" name="tool4"/>
          <p:cNvSpPr/>
          <p:nvPr/>
        </p:nvSpPr>
        <p:spPr>
          <a:xfrm>
            <a:off x="548640" y="3657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Gelenk-Wächter + unsaturate_brain.py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133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blockierte Gelenke finden und befreien</a:t>
            </a:r>
            <a:endParaRPr lang="en-US" sz="1300" dirty="0"/>
          </a:p>
        </p:txBody>
      </p:sp>
      <p:sp>
        <p:nvSpPr>
          <p:cNvPr id="18" name="tool5"/>
          <p:cNvSpPr/>
          <p:nvPr/>
        </p:nvSpPr>
        <p:spPr>
          <a:xfrm>
            <a:off x="6217920" y="3657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Überlagerungs-Renderings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33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Physik-Hüllen über dem Blender-Modell</a:t>
            </a:r>
            <a:endParaRPr lang="en-US" sz="1300" dirty="0"/>
          </a:p>
        </p:txBody>
      </p:sp>
      <p:sp>
        <p:nvSpPr>
          <p:cNvPr id="21" name="tool6"/>
          <p:cNvSpPr/>
          <p:nvPr/>
        </p:nvSpPr>
        <p:spPr>
          <a:xfrm>
            <a:off x="548640" y="4800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910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watch_locomotion.py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276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MuJoCo-Live-Fenster je Training</a:t>
            </a:r>
            <a:endParaRPr lang="en-US" sz="1300" dirty="0"/>
          </a:p>
        </p:txBody>
      </p:sp>
      <p:sp>
        <p:nvSpPr>
          <p:cNvPr id="24" name="tool7"/>
          <p:cNvSpPr/>
          <p:nvPr/>
        </p:nvSpPr>
        <p:spPr>
          <a:xfrm>
            <a:off x="6217920" y="4800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910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Trainings-Videos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276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Checkpoint, ungeübt bis fertig, neben der Lernkurve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· Tools &amp; Laufzeiten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Software, Hardware und wohin die Rechenzeit 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und Umgebung</a:t>
            </a:r>
            <a:endParaRPr lang="en-US" sz="3000" dirty="0"/>
          </a:p>
        </p:txBody>
      </p:sp>
      <p:sp>
        <p:nvSpPr>
          <p:cNvPr id="3" name="stack0"/>
          <p:cNvSpPr/>
          <p:nvPr/>
        </p:nvSpPr>
        <p:spPr>
          <a:xfrm>
            <a:off x="54864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 3 · Gymnasium-Umgebungen</a:t>
            </a:r>
            <a:endParaRPr lang="en-US" sz="1400" dirty="0"/>
          </a:p>
        </p:txBody>
      </p:sp>
      <p:sp>
        <p:nvSpPr>
          <p:cNvPr id="7" name="stack1"/>
          <p:cNvSpPr/>
          <p:nvPr/>
        </p:nvSpPr>
        <p:spPr>
          <a:xfrm>
            <a:off x="429768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(PPO) · PyTorch (CPU)</a:t>
            </a:r>
            <a:endParaRPr lang="en-US" sz="1400" dirty="0"/>
          </a:p>
        </p:txBody>
      </p:sp>
      <p:sp>
        <p:nvSpPr>
          <p:cNvPr id="11" name="stack2"/>
          <p:cNvSpPr/>
          <p:nvPr/>
        </p:nvSpPr>
        <p:spPr>
          <a:xfrm>
            <a:off x="804672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1040" y="1645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&amp; Video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 (EEVEE) · imageio-ffmpeg</a:t>
            </a:r>
            <a:endParaRPr lang="en-US" sz="1400" dirty="0"/>
          </a:p>
        </p:txBody>
      </p:sp>
      <p:sp>
        <p:nvSpPr>
          <p:cNvPr id="15" name="stack3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TensorBoard · NumPy · SciPy · Matplotlib</a:t>
            </a:r>
            <a:endParaRPr lang="en-US" sz="1400" dirty="0"/>
          </a:p>
        </p:txBody>
      </p:sp>
      <p:sp>
        <p:nvSpPr>
          <p:cNvPr id="19" name="stack4"/>
          <p:cNvSpPr/>
          <p:nvPr/>
        </p:nvSpPr>
        <p:spPr>
          <a:xfrm>
            <a:off x="429768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319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Git + Git LFS · Claude Code</a:t>
            </a:r>
            <a:endParaRPr lang="en-US" sz="1400" dirty="0"/>
          </a:p>
        </p:txBody>
      </p:sp>
      <p:sp>
        <p:nvSpPr>
          <p:cNvPr id="23" name="stack5"/>
          <p:cNvSpPr/>
          <p:nvPr/>
        </p:nvSpPr>
        <p:spPr>
          <a:xfrm>
            <a:off x="804672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3931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 · keine CUDA-GPU · Windows 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Rechenzeit nach Aufgabe (Wandzeit, ca.)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untime_text"/>
          <p:cNvSpPr/>
          <p:nvPr/>
        </p:nvSpPr>
        <p:spPr>
          <a:xfrm>
            <a:off x="7589520" y="1280160"/>
            <a:ext cx="4023360" cy="475488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508760"/>
            <a:ext cx="3611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Lauf-Training gesamt ≈ 38 h, meist 2 Läufe parallel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Raubtier-Training ≈ 5,5 h (24,5 Mio. Schritte)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4 Showcase-Videos à 5 min: je 2 × 9.001 Bilder, 4,3–5,7 h; Clip v6 (30 s): 16 min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Arbeitssitzungen ≈ 88 h an 10 Tagen; ≈ 9 h Training durch Schlafmodus / Sitzungsende verloren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Projektplan: 9–13 Wochen geschätzt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schnell rechnet der PC?</a:t>
            </a:r>
            <a:endParaRPr lang="en-US" sz="3000" dirty="0"/>
          </a:p>
        </p:txBody>
      </p:sp>
      <p:sp>
        <p:nvSpPr>
          <p:cNvPr id="3" name="speed0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650–1.700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Trainingsschritte/s je Lauf (Kapsel-Körper)</a:t>
            </a:r>
            <a:endParaRPr lang="en-US" sz="1500" dirty="0"/>
          </a:p>
        </p:txBody>
      </p:sp>
      <p:sp>
        <p:nvSpPr>
          <p:cNvPr id="6" name="speed1"/>
          <p:cNvSpPr/>
          <p:nvPr/>
        </p:nvSpPr>
        <p:spPr>
          <a:xfrm>
            <a:off x="6217920" y="137160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−25 %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688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 mit Netz-Körpern</a:t>
            </a:r>
            <a:endParaRPr lang="en-US" sz="1500" dirty="0"/>
          </a:p>
        </p:txBody>
      </p:sp>
      <p:sp>
        <p:nvSpPr>
          <p:cNvPr id="9" name="speed2"/>
          <p:cNvSpPr/>
          <p:nvPr/>
        </p:nvSpPr>
        <p:spPr>
          <a:xfrm>
            <a:off x="548640" y="356616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94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63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Bild und Kamera (Blender EEVEE 960 × 540)</a:t>
            </a:r>
            <a:endParaRPr lang="en-US" sz="1500" dirty="0"/>
          </a:p>
        </p:txBody>
      </p:sp>
      <p:sp>
        <p:nvSpPr>
          <p:cNvPr id="12" name="speed3"/>
          <p:cNvSpPr/>
          <p:nvPr/>
        </p:nvSpPr>
        <p:spPr>
          <a:xfrm>
            <a:off x="6217920" y="356616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94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h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663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3 Mio. Schritte am Netzteil – im Akkubetrieb ≈ 2,5× länger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MuJoCo-Live-Fenster und TensorBoard bremsen das Training spürbar. Wird die Sitzung geschlossen, stoppen Trainings und Renderings; Checkpoints und Einzelbilder machen das Fortsetzen billig.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Showcase v6: beide Kreaturen mit den finalen Läufern</a:t>
            </a:r>
            <a:endParaRPr lang="en-US" sz="3000" dirty="0"/>
          </a:p>
        </p:txBody>
      </p:sp>
      <p:pic>
        <p:nvPicPr>
          <p:cNvPr id="3" name="showcase_v6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64240" cy="31218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Myrranox v10 (links) und DC v12z (rechts) im Habitat ohne Felsen, Raubtier-Gehirne entscheiden, Laufgehirne bewegen die Beine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5 Minuten aufgenommen: beide überleben, je 4 Beute, kein Sturz (2 Min Rechenzeit)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30-s-Clip gerendert (videos/showcase_v6_30s.mp4); die vollen 5 Minuten sind offen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Myrranox noch ohne Texturen (rosa)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das Rendern so lange dauert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645920"/>
                <a:gridCol w="3931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Einstellung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Bild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5-Min-Video (2 Kameras)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Samples, weiche Schatten, 30 fps (bis v5)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4,2 h (gemessen 4,3–5,7 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Samples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Samples, harte Schatten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2,8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+ 24 fps (Showcase v6)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2,2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Samples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sichtbares Rauschen – nicht genutzt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eigene Grafikkarte (Desktop / Cloud, Schätzung)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0,05–0,1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15–30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Grund: Der Laptop rendert mit der eingebauten Grafik (Intel Iris Xe), nicht mit einer Grafikkarte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18.000 Bilder für 5 Minuten aus zwei Kameras; jedes Bild: Rig, Netz-Verformung, HUD, PNG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Größter Hebel: ein Rechner mit eigener Grafikkarte (10–20× schneller)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· Erfahrungen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Was gut lief, was schiefging und was wir gelernt haben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Erlebnisse</a:t>
            </a:r>
            <a:endParaRPr lang="en-US" sz="3000" dirty="0"/>
          </a:p>
        </p:txBody>
      </p:sp>
      <p:sp>
        <p:nvSpPr>
          <p:cNvPr id="3" name="pos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8191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44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laufen per RL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vorgegebene Animation, alles gelernt</a:t>
            </a:r>
            <a:endParaRPr lang="en-US" sz="1300" dirty="0"/>
          </a:p>
        </p:txBody>
      </p:sp>
      <p:sp>
        <p:nvSpPr>
          <p:cNvPr id="8" name="pos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58191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1444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natürlicher Gang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 und Trab, bis 5× weniger Energie</a:t>
            </a:r>
            <a:endParaRPr lang="en-US" sz="1300" dirty="0"/>
          </a:p>
        </p:txBody>
      </p:sp>
      <p:sp>
        <p:nvSpPr>
          <p:cNvPr id="13" name="pos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77063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Raubtiere jagen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4,6 Beute / 10 min, rastet bei Müdigkeit</a:t>
            </a:r>
            <a:endParaRPr lang="en-US" sz="1300" dirty="0"/>
          </a:p>
        </p:txBody>
      </p:sp>
      <p:sp>
        <p:nvSpPr>
          <p:cNvPr id="18" name="pos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277063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dreht auf der Stelle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7 auf 58–65°/s (v4/v5)</a:t>
            </a:r>
            <a:endParaRPr lang="en-US" sz="1300" dirty="0"/>
          </a:p>
        </p:txBody>
      </p:sp>
      <p:sp>
        <p:nvSpPr>
          <p:cNvPr id="23" name="pos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95935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822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v12z final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206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flüssiger Gang, Sprint 4 m/s, bremst sicher</a:t>
            </a:r>
            <a:endParaRPr lang="en-US" sz="1300" dirty="0"/>
          </a:p>
        </p:txBody>
      </p:sp>
      <p:sp>
        <p:nvSpPr>
          <p:cNvPr id="28" name="pos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395935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3822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v10 final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206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Dreifuß, rückwärts, dreht auf der Stelle</a:t>
            </a:r>
            <a:endParaRPr lang="en-US" sz="1300" dirty="0"/>
          </a:p>
        </p:txBody>
      </p:sp>
      <p:sp>
        <p:nvSpPr>
          <p:cNvPr id="33" name="pos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14807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417320" y="5010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DC-Körper wie das Modell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5394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 Teile, Hand und Rig neu modelliert</a:t>
            </a:r>
            <a:endParaRPr lang="en-US" sz="1300" dirty="0"/>
          </a:p>
        </p:txBody>
      </p:sp>
      <p:sp>
        <p:nvSpPr>
          <p:cNvPr id="38" name="pos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46520" y="514807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46520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86600" y="5010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dokumentiert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394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Trainingsvideos, Messungen, Protokolle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Erlebnisse und ihre Lösung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404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Stehen war billiger als Laufen (Pilot, Myr v3, DC v8)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multiplikative Belohnung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Blockierte Gelenke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Knie-Befehl jenseits der Grenze, kein Lernsignal (v2–v4)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Gelenk-Wächter, Befehle zurückschieben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Handstand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stützte sich auf Vorderbeine und Arme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Kipp-Grenze 25°, Arme am Boden kosten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Schubkarre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Myr: Vorderbeine hoch, Mittelbeine paddeln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jedes Bein muss mit, Körper korrigiert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Rauschen als Ruck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Erkundungs-Rauschen drückte Qualität auf 0,06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dem Filter messen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 Statistik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Belohnungsnormierung vom alten Maßstab (σ ≈ 95)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Statistik zurücksetzen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Falsche Stürze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Höhenreferenz der Pose statt echter Standhöhe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Standhöhe messen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≠ Masse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54 %: Myr kippte auch im perfekten Takt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¼ Dichte, 23 %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Erlebnisse DC v12 (13./14.10.)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486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am Anschlag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Gelenk-Grenzzone 5° bei ±8°-Gelenk: immer „an der Grenze“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skaliert mit dem Bereich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eine Seite bestraft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zu breite Pfoten kosteten: Beine nach innen gezogen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 eng kostet auch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Geh-Regeln im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Wolf-Regeln (Pfoten tief, 2 am Boden) drückten Sprint-Qualität auf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bis 1,2 m/s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 Fähigkeit zu teuer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volle Sprint-Strafen: Gehirn verlernte das Gehen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Gehen weiter üben, Strafen-Rampe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erreichten den Boden nicht, Handgelenk an falscher Stelle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neu modelliert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Haltung geändert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 Arm-Ruhehaltung: Gehirn erkannte sich nicht, stand still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Beobachtungs-Bezug verschoben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schläft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Sitzungsende / Schlafmodus stoppten Training (≈ 9 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Wach-Halter, Netzteil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stabile Liege-Haltung brachte im Stehen die meisten Punkte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Planke = Sturz, Haltungs-Kosten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Klobiger Gang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Anlaufhilfe belohnte hastige kurze Schritte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Glätt-Stufe, Hilfe nur langsam &amp; sanft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wichtigsten Lehren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258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prüfen, was Stillstehen unter jedem Befehl verdient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13258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Belohnungsstrafen multiplizieren, nicht abziehen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29514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2677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Rohe Gehirn-Befehle beobachten, nicht nur Gelenkwinkel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2295144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2677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Lernen: Masse, Symmetrie, Standhaltung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2369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36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20954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 auf einem laufenden Gehirn schlagen große Sprünge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17920" y="32369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3236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20954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Checkpoint behalten und gegen messbare Ziele testen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15137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Gelernte Gewohnheiten überleben Regeländerungen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17920" y="417880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15137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zuschauen findet Fehler, die Zahlen verschweigen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280160" y="5093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nur für den Gang, den sie beschreiben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17920" y="5120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1792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5093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die Geometrie prüfen: kann das Glied den Boden erreichen?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Die nächsten Schritte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4370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v6: volle 5 Minuten rendern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434340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4370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Myrranox-Texturen verknüpfen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0017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01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Tempo-Unterschied DC / Myrranox (Balance)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500176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5001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Raubtier-Gehirne mit den neuen Läufern nachtrainieren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66013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6601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687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mit 2 + 2 Kreaturen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5660136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56601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5687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&amp;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lernen mit Reinforcement Learning</dc:title>
  <dc:subject>Projektpräsentation</dc:subject>
  <dc:creator>Thomas</dc:creator>
  <cp:lastModifiedBy>Thomas</cp:lastModifiedBy>
  <cp:revision>1</cp:revision>
  <dcterms:created xsi:type="dcterms:W3CDTF">2026-10-28T12:30:36Z</dcterms:created>
  <dcterms:modified xsi:type="dcterms:W3CDTF">2026-10-28T12:30:36Z</dcterms:modified>
</cp:coreProperties>
</file>