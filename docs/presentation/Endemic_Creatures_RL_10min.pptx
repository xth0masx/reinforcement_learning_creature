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instieg" id="{d1167562-039a-5936-e233-6be23282bad2}">
          <p14:sldIdLst>
            <p14:sldId id="256"/>
            <p14:sldId id="257"/>
          </p14:sldIdLst>
        </p14:section>
        <p14:section name="Vorgehen" id="{2b8000d8-c156-c0fd-7e09-89f6359b19e7}">
          <p14:sldIdLst>
            <p14:sldId id="258"/>
            <p14:sldId id="259"/>
          </p14:sldIdLst>
        </p14:section>
        <p14:section name="Lernen" id="{42e867a3-a040-f4ee-0abe-86f35587cca0}">
          <p14:sldIdLst>
            <p14:sldId id="260"/>
            <p14:sldId id="261"/>
            <p14:sldId id="262"/>
          </p14:sldIdLst>
        </p14:section>
        <p14:section name="Rückblick" id="{74488e48-7b7b-7685-6862-892f2f4cb3cb}">
          <p14:sldIdLst>
            <p14:sldId id="263"/>
            <p14:sldId id="264"/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30 s. Kurz vorstellen: Projekt, zwei Kreaturen, alles gelernt statt animiert. Bild: der aktuelle Showcase mit beiden finalen Läufern.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 min. Idee: lebendige Kreaturen, die nichts vorprogrammiert bekommen. Nur Regeln, wofür es Punkte gibt.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 min 15 s. Schritt für Schritt: erst die Welt, dann Entscheidungen in 2D (schnell), dann echte Physik. Iterativ: eine Änderung, messen, zuschauen.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50 s. Alles Open Source ausser dem Assistenten. Rechnen nur auf dem Laptop: ein Grund, warum Training und Rendern lange dauerten.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 min 15 s. PPO einfach erklären. Zwei Gehirne übereinander: das obere entscheidet, das untere setzt es in Beinbewegung um. Belohnung beim Laufen: Tempo treffen × wie tierähnlich × wie sauber (Ruck, Kippen, Rutschen).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40 s. Kurz die Zahlen; Bild: alter DC-Physik-Körper (Blöcke) gegen den neuen aus 218 Teilen.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45 s. Der Myrranox war schwieriger als gedacht: erst als das Gewicht stimmte (leichterer Hinterleib) und ein fester Dreifuß-Rhythmus vorgegeben wurde, lief er wie ein Insekt. Rückwärts und Drehen auf der Stelle hat er erst mit v10 gelernt.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 min 15 s. Wichtigste Erkenntnis: RL optimiert genau das, was man belohnt - nicht das, was man meint. Beispiele nennen.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 min 15 s. Ehrlich: viele Runden waren Fehlversuche. Jede hat aber eine Lehre gebracht.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 min. Die drei wichtigsten: Körper zuerst, Belohnung vorher testen, bessere Hardware.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30 s plus Fragen. Optional hier das 30-s-Video zeigen.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931920"/>
            <a:ext cx="110642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5212080"/>
            <a:ext cx="110642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89B"/>
                </a:solidFill>
              </a:rPr>
              <a:t>Endemic Creatures · Reinforcement Learning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ero" descr="C:\Users\thoma\PycharmProjects\Reinforcement_Learning_Creature\docs\figures\showcase_v6_stil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34399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931920"/>
            <a:ext cx="11064240" cy="11887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Endemic Creatures: Laufen und Jagen lernen mit Reinforcement Learning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52120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Zwei erfundene Raubtiere lernen in einer Physik-Simulation selbst zu gehen und zu jagen · Thomas · Oktober 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Idee</a:t>
            </a:r>
            <a:endParaRPr lang="en-US" sz="3200" dirty="0"/>
          </a:p>
        </p:txBody>
      </p:sp>
      <p:sp>
        <p:nvSpPr>
          <p:cNvPr id="3" name="creature0"/>
          <p:cNvSpPr/>
          <p:nvPr/>
        </p:nvSpPr>
        <p:spPr>
          <a:xfrm>
            <a:off x="548640" y="1325880"/>
            <a:ext cx="2697480" cy="2788920"/>
          </a:xfrm>
          <a:prstGeom prst="roundRect">
            <a:avLst>
              <a:gd name="adj" fmla="val 27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img0" descr="C:\Users\thoma\PycharmProjects\Reinforcement_Learning_Creature\docs\presentation\src\myr_stil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463040"/>
            <a:ext cx="2423160" cy="1188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27889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Myrranox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32461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Ameisen-artig, 6 Beine, 8 kg</a:t>
            </a:r>
            <a:endParaRPr lang="en-US" sz="1400" dirty="0"/>
          </a:p>
        </p:txBody>
      </p:sp>
      <p:sp>
        <p:nvSpPr>
          <p:cNvPr id="7" name="creature1"/>
          <p:cNvSpPr/>
          <p:nvPr/>
        </p:nvSpPr>
        <p:spPr>
          <a:xfrm>
            <a:off x="3429000" y="1325880"/>
            <a:ext cx="2697480" cy="2788920"/>
          </a:xfrm>
          <a:prstGeom prst="roundRect">
            <a:avLst>
              <a:gd name="adj" fmla="val 27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8" name="img1" descr="C:\Users\thoma\PycharmProjects\Reinforcement_Learning_Creature\docs\presentation\src\dc_still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566160" y="1463040"/>
            <a:ext cx="2423160" cy="11887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611880" y="27889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3611880" y="32461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Panther-artig mit Zusatzarmen, 60 kg</a:t>
            </a:r>
            <a:endParaRPr lang="en-US" sz="1400" dirty="0"/>
          </a:p>
        </p:txBody>
      </p:sp>
      <p:sp>
        <p:nvSpPr>
          <p:cNvPr id="11" name="idea_text"/>
          <p:cNvSpPr/>
          <p:nvPr/>
        </p:nvSpPr>
        <p:spPr>
          <a:xfrm>
            <a:off x="6400800" y="1325880"/>
            <a:ext cx="5212080" cy="4709160"/>
          </a:xfrm>
          <a:prstGeom prst="roundRect">
            <a:avLst>
              <a:gd name="adj" fmla="val 155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675120" y="15087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Ziel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6675120" y="2011680"/>
            <a:ext cx="47548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Zwei Raubtiere leben in einem Habitat von 100 × 100 m mit Revieren, Beute und Rastplätzen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Sie lernen selbst: wohin sie gehen (jagen, rasten, Revier) und wie sie ihre Beine bewegen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Keine Animation: jede Bewegung entsteht durch Belohnung und Strafe in einer Physik-Simulation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Bewegung wie das Vorbild: Insekt im Dreifuß-Gang, Raubkatze / Wolf im Viertakt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Ergebnis als Video in Blender</a:t>
            </a:r>
            <a:endParaRPr lang="en-US" sz="1500" dirty="0"/>
          </a:p>
        </p:txBody>
      </p:sp>
      <p:sp>
        <p:nvSpPr>
          <p:cNvPr id="14" name="question"/>
          <p:cNvSpPr/>
          <p:nvPr/>
        </p:nvSpPr>
        <p:spPr>
          <a:xfrm>
            <a:off x="548640" y="4343400"/>
            <a:ext cx="557784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77240" y="44805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Kernfrage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777240" y="489204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Kann ein Computer ohne Vorgaben lernen, sich wie ein echtes Tier zu bewegen und zu verhalten?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bin ich vorgegangen?</a:t>
            </a:r>
            <a:endParaRPr lang="en-US" sz="3200" dirty="0"/>
          </a:p>
        </p:txBody>
      </p:sp>
      <p:sp>
        <p:nvSpPr>
          <p:cNvPr id="3" name="step0"/>
          <p:cNvSpPr/>
          <p:nvPr/>
        </p:nvSpPr>
        <p:spPr>
          <a:xfrm>
            <a:off x="548640" y="1371600"/>
            <a:ext cx="35204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002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6459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&amp; Welt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24028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Projektplan, Habitat, Regeln, 3D-Modelle in Blender</a:t>
            </a:r>
            <a:endParaRPr lang="en-US" sz="1400" dirty="0"/>
          </a:p>
        </p:txBody>
      </p:sp>
      <p:sp>
        <p:nvSpPr>
          <p:cNvPr id="8" name="step1"/>
          <p:cNvSpPr/>
          <p:nvPr/>
        </p:nvSpPr>
        <p:spPr>
          <a:xfrm>
            <a:off x="4297680" y="1371600"/>
            <a:ext cx="35204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26280" y="16002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2628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212080" y="16459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Jagen in 2D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24028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Schnelle 2D-Simulation: Raubtier-Gehirne lernen jagen und rasten</a:t>
            </a:r>
            <a:endParaRPr lang="en-US" sz="1400" dirty="0"/>
          </a:p>
        </p:txBody>
      </p:sp>
      <p:sp>
        <p:nvSpPr>
          <p:cNvPr id="13" name="step2"/>
          <p:cNvSpPr/>
          <p:nvPr/>
        </p:nvSpPr>
        <p:spPr>
          <a:xfrm>
            <a:off x="8046720" y="1371600"/>
            <a:ext cx="35204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75320" y="16002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7532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0" y="16459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Laufen in 3D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275320" y="224028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MuJoCo-Physik: Laufgehirne lernen die Beine zu bewegen</a:t>
            </a:r>
            <a:endParaRPr lang="en-US" sz="1400" dirty="0"/>
          </a:p>
        </p:txBody>
      </p:sp>
      <p:sp>
        <p:nvSpPr>
          <p:cNvPr id="18" name="step3"/>
          <p:cNvSpPr/>
          <p:nvPr/>
        </p:nvSpPr>
        <p:spPr>
          <a:xfrm>
            <a:off x="548640" y="3337560"/>
            <a:ext cx="35204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35661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3566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36118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Körper wie das Modell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42062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Physik-Körper direkt aus dem 3D-Netz (bis 218 Teile)</a:t>
            </a:r>
            <a:endParaRPr lang="en-US" sz="1400" dirty="0"/>
          </a:p>
        </p:txBody>
      </p:sp>
      <p:sp>
        <p:nvSpPr>
          <p:cNvPr id="23" name="step4"/>
          <p:cNvSpPr/>
          <p:nvPr/>
        </p:nvSpPr>
        <p:spPr>
          <a:xfrm>
            <a:off x="4297680" y="3337560"/>
            <a:ext cx="35204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26280" y="35661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26280" y="3566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212080" y="36118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Natürlicher Stil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4526280" y="42062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Regeln nach Vorbild (Insekt, Wolf), messen, nachschärfen</a:t>
            </a:r>
            <a:endParaRPr lang="en-US" sz="1400" dirty="0"/>
          </a:p>
        </p:txBody>
      </p:sp>
      <p:sp>
        <p:nvSpPr>
          <p:cNvPr id="28" name="step5"/>
          <p:cNvSpPr/>
          <p:nvPr/>
        </p:nvSpPr>
        <p:spPr>
          <a:xfrm>
            <a:off x="8046720" y="3337560"/>
            <a:ext cx="35204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75320" y="35661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75320" y="3566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6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961120" y="36118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8275320" y="42062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Gehirne zusammen im Habitat, in Blender gerendert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4864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Arbeitsweise: immer eine Änderung pro Training, danach messen (Tempo, Takt, Stürze) und live zuschauen · 12 Versionen des Laufgehirns in 5 Wochen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Welche Mittel und Tools habe ich verwendet?</a:t>
            </a:r>
            <a:endParaRPr lang="en-US" sz="3200" dirty="0"/>
          </a:p>
        </p:txBody>
      </p:sp>
      <p:sp>
        <p:nvSpPr>
          <p:cNvPr id="3" name="tool0"/>
          <p:cNvSpPr/>
          <p:nvPr/>
        </p:nvSpPr>
        <p:spPr>
          <a:xfrm>
            <a:off x="548640" y="1325880"/>
            <a:ext cx="53949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00200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4630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MuJoCo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8562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Physik-Simulation: Kräfte, Kontakte, Gleichgewicht</a:t>
            </a:r>
            <a:endParaRPr lang="en-US" sz="1400" dirty="0"/>
          </a:p>
        </p:txBody>
      </p:sp>
      <p:sp>
        <p:nvSpPr>
          <p:cNvPr id="7" name="tool1"/>
          <p:cNvSpPr/>
          <p:nvPr/>
        </p:nvSpPr>
        <p:spPr>
          <a:xfrm>
            <a:off x="6217920" y="1325880"/>
            <a:ext cx="53949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46520" y="160020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086600" y="14630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Gymnasium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086600" y="18562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Lernumgebungen: Beobachtung, Aktion, Belohnung</a:t>
            </a:r>
            <a:endParaRPr lang="en-US" sz="1400" dirty="0"/>
          </a:p>
        </p:txBody>
      </p:sp>
      <p:sp>
        <p:nvSpPr>
          <p:cNvPr id="11" name="tool2"/>
          <p:cNvSpPr/>
          <p:nvPr/>
        </p:nvSpPr>
        <p:spPr>
          <a:xfrm>
            <a:off x="548640" y="2514600"/>
            <a:ext cx="53949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7240" y="27889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417320" y="26517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Stable-Baselines3 + PyTorch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304495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Lernalgorithmus PPO, neuronale Netze</a:t>
            </a:r>
            <a:endParaRPr lang="en-US" sz="1400" dirty="0"/>
          </a:p>
        </p:txBody>
      </p:sp>
      <p:sp>
        <p:nvSpPr>
          <p:cNvPr id="15" name="tool3"/>
          <p:cNvSpPr/>
          <p:nvPr/>
        </p:nvSpPr>
        <p:spPr>
          <a:xfrm>
            <a:off x="6217920" y="2514600"/>
            <a:ext cx="53949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46520" y="278892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086600" y="26517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Blender 5.2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086600" y="304495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3D-Modelle, Rig, Animation, Rendering</a:t>
            </a:r>
            <a:endParaRPr lang="en-US" sz="1400" dirty="0"/>
          </a:p>
        </p:txBody>
      </p:sp>
      <p:sp>
        <p:nvSpPr>
          <p:cNvPr id="19" name="tool4"/>
          <p:cNvSpPr/>
          <p:nvPr/>
        </p:nvSpPr>
        <p:spPr>
          <a:xfrm>
            <a:off x="548640" y="3703320"/>
            <a:ext cx="53949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3977640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417320" y="38404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CoACD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417320" y="423367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zerlegt das 3D-Netz in Physik-Teile</a:t>
            </a:r>
            <a:endParaRPr lang="en-US" sz="1400" dirty="0"/>
          </a:p>
        </p:txBody>
      </p:sp>
      <p:sp>
        <p:nvSpPr>
          <p:cNvPr id="23" name="tool5"/>
          <p:cNvSpPr/>
          <p:nvPr/>
        </p:nvSpPr>
        <p:spPr>
          <a:xfrm>
            <a:off x="6217920" y="3703320"/>
            <a:ext cx="53949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46520" y="397764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086600" y="38404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Python, Git / GitHub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086600" y="423367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Versionen, alle Gehirne und Videos gesichert</a:t>
            </a:r>
            <a:endParaRPr lang="en-US" sz="1400" dirty="0"/>
          </a:p>
        </p:txBody>
      </p:sp>
      <p:sp>
        <p:nvSpPr>
          <p:cNvPr id="27" name="tool6"/>
          <p:cNvSpPr/>
          <p:nvPr/>
        </p:nvSpPr>
        <p:spPr>
          <a:xfrm>
            <a:off x="548640" y="4892040"/>
            <a:ext cx="53949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77240" y="51663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417320" y="50292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1417320" y="54223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KI-Assistent: Code, Analysen, Doku</a:t>
            </a:r>
            <a:endParaRPr lang="en-US" sz="1400" dirty="0"/>
          </a:p>
        </p:txBody>
      </p:sp>
      <p:sp>
        <p:nvSpPr>
          <p:cNvPr id="31" name="tool7"/>
          <p:cNvSpPr/>
          <p:nvPr/>
        </p:nvSpPr>
        <p:spPr>
          <a:xfrm>
            <a:off x="6217920" y="4892040"/>
            <a:ext cx="53949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46520" y="516636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086600" y="50292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7086600" y="54223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CPU-Kerne, keine Grafikkarte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Welchen Lernalgorithmus habe ich verwendet?</a:t>
            </a:r>
            <a:endParaRPr lang="en-US" sz="3200" dirty="0"/>
          </a:p>
        </p:txBody>
      </p:sp>
      <p:sp>
        <p:nvSpPr>
          <p:cNvPr id="3" name="ppo"/>
          <p:cNvSpPr/>
          <p:nvPr/>
        </p:nvSpPr>
        <p:spPr>
          <a:xfrm>
            <a:off x="548640" y="1325880"/>
            <a:ext cx="5120640" cy="4709160"/>
          </a:xfrm>
          <a:prstGeom prst="roundRect">
            <a:avLst>
              <a:gd name="adj" fmla="val 155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4630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PPO – Proximal Policy Optimization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011680"/>
            <a:ext cx="47091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Reinforcement Learning: Ausprobieren, Belohnung bekommen, besser werden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Actor-Critic: ein Netz wählt die Aktion, ein zweites schätzt den Wert der Lage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„Proximal“: pro Update nur kleine Änderungen – stabiles Lernen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8 Simulationen parallel, Millionen Versuche (≈ 185 Mio. Schritte insgesamt)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Extra: Spiegel-Symmetrie links/rechts, Lehrpläne (erst leicht, dann schwer)</a:t>
            </a:r>
            <a:endParaRPr lang="en-US" sz="1400" dirty="0"/>
          </a:p>
        </p:txBody>
      </p:sp>
      <p:sp>
        <p:nvSpPr>
          <p:cNvPr id="6" name="arch0"/>
          <p:cNvSpPr/>
          <p:nvPr/>
        </p:nvSpPr>
        <p:spPr>
          <a:xfrm>
            <a:off x="5989320" y="1325880"/>
            <a:ext cx="56235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17920" y="17373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949440" y="150876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Raubtier-Gehirn · 10 Hz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949440" y="192024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wohin? jagen, rasten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Tempo + Drehung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641080" y="2670048"/>
            <a:ext cx="274320" cy="237744"/>
          </a:xfrm>
          <a:prstGeom prst="downArrow">
            <a:avLst/>
          </a:prstGeom>
          <a:solidFill>
            <a:srgbClr val="8FA89B"/>
          </a:solidFill>
          <a:ln w="12700">
            <a:solidFill>
              <a:srgbClr val="8FA89B"/>
            </a:solidFill>
            <a:prstDash val="solid"/>
          </a:ln>
        </p:spPr>
      </p:sp>
      <p:sp>
        <p:nvSpPr>
          <p:cNvPr id="12" name="arch1"/>
          <p:cNvSpPr/>
          <p:nvPr/>
        </p:nvSpPr>
        <p:spPr>
          <a:xfrm>
            <a:off x="5989320" y="2926080"/>
            <a:ext cx="56235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0" y="33375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0" y="3337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949440" y="310896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Laufgehirn · 50 Hz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949440" y="352044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wie? Gelenkziele für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(Myr) / 29 (DC) Motoren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641080" y="4270248"/>
            <a:ext cx="274320" cy="237744"/>
          </a:xfrm>
          <a:prstGeom prst="downArrow">
            <a:avLst/>
          </a:prstGeom>
          <a:solidFill>
            <a:srgbClr val="8FA89B"/>
          </a:solidFill>
          <a:ln w="12700">
            <a:solidFill>
              <a:srgbClr val="8FA89B"/>
            </a:solidFill>
            <a:prstDash val="solid"/>
          </a:ln>
        </p:spPr>
      </p:sp>
      <p:sp>
        <p:nvSpPr>
          <p:cNvPr id="18" name="arch2"/>
          <p:cNvSpPr/>
          <p:nvPr/>
        </p:nvSpPr>
        <p:spPr>
          <a:xfrm>
            <a:off x="5989320" y="4526280"/>
            <a:ext cx="56235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17920" y="493776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17920" y="4937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949440" y="470916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MuJoCo-Physik · 200 Hz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6949440" y="512064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Kräfte, Kontakte,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Gleichgewicht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ist herausgekommen? Überblick und DC</a:t>
            </a:r>
            <a:endParaRPr lang="en-US" sz="3200" dirty="0"/>
          </a:p>
        </p:txBody>
      </p:sp>
      <p:sp>
        <p:nvSpPr>
          <p:cNvPr id="3" name="stat0"/>
          <p:cNvSpPr/>
          <p:nvPr/>
        </p:nvSpPr>
        <p:spPr>
          <a:xfrm>
            <a:off x="548640" y="1325880"/>
            <a:ext cx="178308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41732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24028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Versionen des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Laufgehirns</a:t>
            </a:r>
            <a:endParaRPr lang="en-US" sz="1300" dirty="0"/>
          </a:p>
        </p:txBody>
      </p:sp>
      <p:sp>
        <p:nvSpPr>
          <p:cNvPr id="6" name="stat1"/>
          <p:cNvSpPr/>
          <p:nvPr/>
        </p:nvSpPr>
        <p:spPr>
          <a:xfrm>
            <a:off x="2468880" y="1325880"/>
            <a:ext cx="178308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06040" y="141732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50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2560320" y="224028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trainierte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Gehirne</a:t>
            </a:r>
            <a:endParaRPr lang="en-US" sz="1300" dirty="0"/>
          </a:p>
        </p:txBody>
      </p:sp>
      <p:sp>
        <p:nvSpPr>
          <p:cNvPr id="9" name="stat2"/>
          <p:cNvSpPr/>
          <p:nvPr/>
        </p:nvSpPr>
        <p:spPr>
          <a:xfrm>
            <a:off x="4389120" y="1325880"/>
            <a:ext cx="178308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26280" y="141732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218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4480560" y="224028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Physik-Teile im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DC-Körper</a:t>
            </a:r>
            <a:endParaRPr lang="en-US" sz="1300" dirty="0"/>
          </a:p>
        </p:txBody>
      </p:sp>
      <p:pic>
        <p:nvPicPr>
          <p:cNvPr id="12" name="body" descr="C:\Users\thoma\PycharmProjects\Reinforcement_Learning_Creature\docs\figures\dc_physics_body_v11_vs_v1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3246120"/>
            <a:ext cx="5577840" cy="2834640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325880"/>
          <a:ext cx="52120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74520"/>
                <a:gridCol w="18745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Myrranox v10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 v12z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Gehen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0,52 m/s, Dreifuß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 m/s, flüssig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Vollgas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 m/s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bis 4,1 m/s Sprint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Besonderes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rückwärts, dreht am Ort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bremst ohne Sturz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Jagen (2D)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 Beute / 10 min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 Beute / 10 min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</a:tbl>
          </a:graphicData>
        </a:graphic>
      </p:graphicFrame>
      <p:sp>
        <p:nvSpPr>
          <p:cNvPr id="14" name="Text 10"/>
          <p:cNvSpPr txBox="1"/>
          <p:nvPr/>
        </p:nvSpPr>
        <p:spPr>
          <a:xfrm>
            <a:off x="6400800" y="406908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Läufer final, beide jagen im Habitat; ein 30-s-Showcase-Video zeigt sie zusammen.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ist herausgekommen? Myrranox</a:t>
            </a:r>
            <a:endParaRPr lang="en-US" sz="3200" dirty="0"/>
          </a:p>
        </p:txBody>
      </p:sp>
      <p:pic>
        <p:nvPicPr>
          <p:cNvPr id="3" name="myr_body" descr="C:\Users\thoma\PycharmProjects\Reinforcement_Learning_Creature\docs\presentation\src\myrranox_physics_body_mesh_dec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120640" cy="384823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257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Physik-Körper aus dem echten Modell: 21 Hüllen, Krallen als Füße</a:t>
            </a:r>
            <a:endParaRPr lang="en-US" sz="1300" dirty="0"/>
          </a:p>
        </p:txBody>
      </p:sp>
      <p:sp>
        <p:nvSpPr>
          <p:cNvPr id="5" name="myr_stat0"/>
          <p:cNvSpPr/>
          <p:nvPr/>
        </p:nvSpPr>
        <p:spPr>
          <a:xfrm>
            <a:off x="5989320" y="1325880"/>
            <a:ext cx="1298448" cy="1600200"/>
          </a:xfrm>
          <a:prstGeom prst="roundRect">
            <a:avLst>
              <a:gd name="adj" fmla="val 5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035040" y="1463040"/>
            <a:ext cx="1207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0,52 m/s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6035040" y="2057400"/>
            <a:ext cx="12070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(Befehl 0,6)</a:t>
            </a:r>
            <a:endParaRPr lang="en-US" sz="1200" dirty="0"/>
          </a:p>
        </p:txBody>
      </p:sp>
      <p:sp>
        <p:nvSpPr>
          <p:cNvPr id="8" name="myr_stat1"/>
          <p:cNvSpPr/>
          <p:nvPr/>
        </p:nvSpPr>
        <p:spPr>
          <a:xfrm>
            <a:off x="7406640" y="1325880"/>
            <a:ext cx="1298448" cy="1600200"/>
          </a:xfrm>
          <a:prstGeom prst="roundRect">
            <a:avLst>
              <a:gd name="adj" fmla="val 5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452360" y="1463040"/>
            <a:ext cx="1207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1,08 m/s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7452360" y="2057400"/>
            <a:ext cx="12070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Vollgas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(Befehl 1,2)</a:t>
            </a:r>
            <a:endParaRPr lang="en-US" sz="1200" dirty="0"/>
          </a:p>
        </p:txBody>
      </p:sp>
      <p:sp>
        <p:nvSpPr>
          <p:cNvPr id="11" name="myr_stat2"/>
          <p:cNvSpPr/>
          <p:nvPr/>
        </p:nvSpPr>
        <p:spPr>
          <a:xfrm>
            <a:off x="8823960" y="1325880"/>
            <a:ext cx="1298448" cy="1600200"/>
          </a:xfrm>
          <a:prstGeom prst="roundRect">
            <a:avLst>
              <a:gd name="adj" fmla="val 5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869680" y="1463040"/>
            <a:ext cx="1207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 °/s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8869680" y="2057400"/>
            <a:ext cx="12070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Drehen auf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Stelle</a:t>
            </a:r>
            <a:endParaRPr lang="en-US" sz="1200" dirty="0"/>
          </a:p>
        </p:txBody>
      </p:sp>
      <p:sp>
        <p:nvSpPr>
          <p:cNvPr id="14" name="myr_stat3"/>
          <p:cNvSpPr/>
          <p:nvPr/>
        </p:nvSpPr>
        <p:spPr>
          <a:xfrm>
            <a:off x="10241280" y="1325880"/>
            <a:ext cx="1298448" cy="1600200"/>
          </a:xfrm>
          <a:prstGeom prst="roundRect">
            <a:avLst>
              <a:gd name="adj" fmla="val 5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287000" y="1463040"/>
            <a:ext cx="1207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−0,26 m/s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10287000" y="2057400"/>
            <a:ext cx="12070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rückwärts –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erstmals gelernt</a:t>
            </a:r>
            <a:endParaRPr lang="en-US" sz="1200" dirty="0"/>
          </a:p>
        </p:txBody>
      </p:sp>
      <p:sp>
        <p:nvSpPr>
          <p:cNvPr id="17" name="myr_path"/>
          <p:cNvSpPr/>
          <p:nvPr/>
        </p:nvSpPr>
        <p:spPr>
          <a:xfrm>
            <a:off x="5989320" y="3108960"/>
            <a:ext cx="5623560" cy="2423160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17920" y="32461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Weg zum Insekten-Gang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6217920" y="3703320"/>
            <a:ext cx="52578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v1: läuft, aber nur mit den Mittelbeinen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v2: Dreifuß-Takt (3 Beine am Boden), 5× weniger Energie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v5: Knie endlich frei (waren seit v2 blockiert)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v9: „Schubkarre“ – der Hinterleib war 54 % des Gewichts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v10: Hinterleib leichter (23 %) + Dreifuß-Schrittgeber → final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Dreifuß-Takt 87 % der Zeit · Knie 60° · Hinterleib nie am Boden · keine Stürze · offen: Vorderbeine nur 21 % am Boden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habe ich gelernt?</a:t>
            </a:r>
            <a:endParaRPr lang="en-US" sz="3200" dirty="0"/>
          </a:p>
        </p:txBody>
      </p:sp>
      <p:sp>
        <p:nvSpPr>
          <p:cNvPr id="3" name="learn0"/>
          <p:cNvSpPr/>
          <p:nvPr/>
        </p:nvSpPr>
        <p:spPr>
          <a:xfrm>
            <a:off x="548640" y="1325880"/>
            <a:ext cx="53949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7373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49047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Belohnung ist alles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92024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Gehirn findet jedes Schlupfloch: Stillstehen, Handstand, „Planke“ – wenn es Punkte bringt</a:t>
            </a:r>
            <a:endParaRPr lang="en-US" sz="1400" dirty="0"/>
          </a:p>
        </p:txBody>
      </p:sp>
      <p:sp>
        <p:nvSpPr>
          <p:cNvPr id="8" name="learn1"/>
          <p:cNvSpPr/>
          <p:nvPr/>
        </p:nvSpPr>
        <p:spPr>
          <a:xfrm>
            <a:off x="6217920" y="1325880"/>
            <a:ext cx="53949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17373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132320" y="149047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 der Körper, dann das Lernen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0" y="192024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Falsche Masse, Geometrie oder Gelenke kann keine Regel ausgleichen</a:t>
            </a:r>
            <a:endParaRPr lang="en-US" sz="1400" dirty="0"/>
          </a:p>
        </p:txBody>
      </p:sp>
      <p:sp>
        <p:nvSpPr>
          <p:cNvPr id="13" name="learn2"/>
          <p:cNvSpPr/>
          <p:nvPr/>
        </p:nvSpPr>
        <p:spPr>
          <a:xfrm>
            <a:off x="548640" y="2898648"/>
            <a:ext cx="53949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331012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33101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30632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Multiplizieren statt abziehen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3493008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Strafen verkleinern die Punkte – Stehen darf nie billiger sein als Laufen</a:t>
            </a:r>
            <a:endParaRPr lang="en-US" sz="1400" dirty="0"/>
          </a:p>
        </p:txBody>
      </p:sp>
      <p:sp>
        <p:nvSpPr>
          <p:cNvPr id="18" name="learn3"/>
          <p:cNvSpPr/>
          <p:nvPr/>
        </p:nvSpPr>
        <p:spPr>
          <a:xfrm>
            <a:off x="6217920" y="2898648"/>
            <a:ext cx="53949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46520" y="3310128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46520" y="33101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132320" y="30632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Messen und zuschauen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132320" y="3493008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Zahlen zeigen Trends, live zuschauen zeigt, was wirklich passiert</a:t>
            </a:r>
            <a:endParaRPr lang="en-US" sz="1400" dirty="0"/>
          </a:p>
        </p:txBody>
      </p:sp>
      <p:sp>
        <p:nvSpPr>
          <p:cNvPr id="23" name="learn4"/>
          <p:cNvSpPr/>
          <p:nvPr/>
        </p:nvSpPr>
        <p:spPr>
          <a:xfrm>
            <a:off x="548640" y="4471416"/>
            <a:ext cx="53949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77240" y="4882896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48828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463040" y="46360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Kleine Schritte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1463040" y="5065776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Änderung pro Training; jeden Checkpoint behalten</a:t>
            </a:r>
            <a:endParaRPr lang="en-US" sz="1400" dirty="0"/>
          </a:p>
        </p:txBody>
      </p:sp>
      <p:sp>
        <p:nvSpPr>
          <p:cNvPr id="28" name="learn5"/>
          <p:cNvSpPr/>
          <p:nvPr/>
        </p:nvSpPr>
        <p:spPr>
          <a:xfrm>
            <a:off x="6217920" y="4471416"/>
            <a:ext cx="53949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46520" y="4882896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46520" y="48828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6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7132320" y="46360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Regeln gezielt einsetzen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7132320" y="5065776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Geh-Regel im Sprint hat das Sprinten verhindert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ist schlecht gelaufen?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41248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Was passierte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Stillstand-Fallen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Mehrmals lernten die Gehirne, einfach stehen zu bleiben (Strafen zu stark)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Schlupflöcher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DC: Handstand auf Vorderbeinen, später „Planke“ mit gespreizten Beinen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Regelfehler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Fehler in meinen Regeln haben ganze Trainings verdorben (z. B. Beine nach innen gezogen)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Arme &amp; Hand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Arme zu kurz, Handgelenk an falscher Stelle – Arme im Sprint am Ende verworfen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Rechner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Laptop schlief ein oder Sitzung endete: ≈ 9 h Training verloren; Rendern 4–6 h pro Video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Jagen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Raubzüge und Revierverteidigung nie gelernt; Spiel-Idee gebaut und verworfen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würde ich anders machen?</a:t>
            </a:r>
            <a:endParaRPr lang="en-US" sz="3200" dirty="0"/>
          </a:p>
        </p:txBody>
      </p:sp>
      <p:sp>
        <p:nvSpPr>
          <p:cNvPr id="3" name="diff0"/>
          <p:cNvSpPr/>
          <p:nvPr/>
        </p:nvSpPr>
        <p:spPr>
          <a:xfrm>
            <a:off x="548640" y="1371600"/>
            <a:ext cx="35204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002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→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6459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Körper zuerst prüfen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24028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Masse, Geometrie, Reichweite der Glieder vor dem ersten Training messen</a:t>
            </a:r>
            <a:endParaRPr lang="en-US" sz="1400" dirty="0"/>
          </a:p>
        </p:txBody>
      </p:sp>
      <p:sp>
        <p:nvSpPr>
          <p:cNvPr id="8" name="diff1"/>
          <p:cNvSpPr/>
          <p:nvPr/>
        </p:nvSpPr>
        <p:spPr>
          <a:xfrm>
            <a:off x="4297680" y="1371600"/>
            <a:ext cx="35204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26280" y="16002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2628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→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212080" y="16459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Belohnung vorher testen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24028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einfachen Skript-Figuren prüfen, ob Stehen oder Schlupflöcher sich lohnen</a:t>
            </a:r>
            <a:endParaRPr lang="en-US" sz="1400" dirty="0"/>
          </a:p>
        </p:txBody>
      </p:sp>
      <p:sp>
        <p:nvSpPr>
          <p:cNvPr id="13" name="diff2"/>
          <p:cNvSpPr/>
          <p:nvPr/>
        </p:nvSpPr>
        <p:spPr>
          <a:xfrm>
            <a:off x="8046720" y="1371600"/>
            <a:ext cx="35204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75320" y="16002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7532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→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0" y="16459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Vorbild früher nutzen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275320" y="224028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Referenz-Bewegung (z. B. der Wolf) von Anfang an als Ziel</a:t>
            </a:r>
            <a:endParaRPr lang="en-US" sz="1400" dirty="0"/>
          </a:p>
        </p:txBody>
      </p:sp>
      <p:sp>
        <p:nvSpPr>
          <p:cNvPr id="18" name="diff3"/>
          <p:cNvSpPr/>
          <p:nvPr/>
        </p:nvSpPr>
        <p:spPr>
          <a:xfrm>
            <a:off x="548640" y="3657600"/>
            <a:ext cx="35204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38862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3886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→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39319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Ziele messbar festlegen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452628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Tempo, Takt, Haltung als feste Tests vor jedem Training</a:t>
            </a:r>
            <a:endParaRPr lang="en-US" sz="1400" dirty="0"/>
          </a:p>
        </p:txBody>
      </p:sp>
      <p:sp>
        <p:nvSpPr>
          <p:cNvPr id="23" name="diff4"/>
          <p:cNvSpPr/>
          <p:nvPr/>
        </p:nvSpPr>
        <p:spPr>
          <a:xfrm>
            <a:off x="4297680" y="3657600"/>
            <a:ext cx="35204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26280" y="38862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26280" y="3886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→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212080" y="39319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Stärkere Hardware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4526280" y="452628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Rechner mit Grafikkarte oder Cloud: Rendern 10–20× schneller, nichts schläft ein</a:t>
            </a:r>
            <a:endParaRPr lang="en-US" sz="1400" dirty="0"/>
          </a:p>
        </p:txBody>
      </p:sp>
      <p:sp>
        <p:nvSpPr>
          <p:cNvPr id="28" name="diff5"/>
          <p:cNvSpPr/>
          <p:nvPr/>
        </p:nvSpPr>
        <p:spPr>
          <a:xfrm>
            <a:off x="8046720" y="3657600"/>
            <a:ext cx="35204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75320" y="38862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75320" y="3886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→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961120" y="39319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Weniger auf einmal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8275320" y="452628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 ein Tier fertig, dann das zweite; weniger Ideen parallel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utro" descr="C:\Users\thoma\PycharmProjects\Reinforcement_Learning_Creature\docs\figures\showcase_v6_stil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34399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931920"/>
            <a:ext cx="11064240" cy="11887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Danke! Fragen?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52120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Video: docs/videos/showcase_v6_30s.mp4 · Code, Gehirne und Doku: GitHub, Branch rl-locomotion-setup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ndemic Creatures">
  <a:themeElements>
    <a:clrScheme name="Endemic Creatures">
      <a:dk1>
        <a:srgbClr val="1C2321"/>
      </a:dk1>
      <a:lt1>
        <a:srgbClr val="FFFFFF"/>
      </a:lt1>
      <a:dk2>
        <a:srgbClr val="1F3A35"/>
      </a:dk2>
      <a:lt2>
        <a:srgbClr val="EDF2EF"/>
      </a:lt2>
      <a:accent1>
        <a:srgbClr val="D98E04"/>
      </a:accent1>
      <a:accent2>
        <a:srgbClr val="2E7D6B"/>
      </a:accent2>
      <a:accent3>
        <a:srgbClr val="B23A48"/>
      </a:accent3>
      <a:accent4>
        <a:srgbClr val="5B6C8F"/>
      </a:accent4>
      <a:accent5>
        <a:srgbClr val="8FA89B"/>
      </a:accent5>
      <a:accent6>
        <a:srgbClr val="C9B27C"/>
      </a:accent6>
      <a:hlink>
        <a:srgbClr val="2E7D6B"/>
      </a:hlink>
      <a:folHlink>
        <a:srgbClr val="5B6C8F"/>
      </a:folHlink>
    </a:clrScheme>
    <a:fontScheme name="Endemic Creature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Endemic Creatures - Laufen und Jagen lernen mit Reinforcement Learning</dc:title>
  <dc:subject>Kurzpräsentation (10 Minuten)</dc:subject>
  <dc:creator>Thomas</dc:creator>
  <cp:lastModifiedBy>Thomas</cp:lastModifiedBy>
  <cp:revision>1</cp:revision>
  <dcterms:created xsi:type="dcterms:W3CDTF">2026-10-28T14:31:29Z</dcterms:created>
  <dcterms:modified xsi:type="dcterms:W3CDTF">2026-10-28T14:31:29Z</dcterms:modified>
</cp:coreProperties>
</file>