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899a1cd8-0019-5a21-1011-b829d79ee58b}">
          <p14:sldIdLst>
            <p14:sldId id="256"/>
            <p14:sldId id="257"/>
          </p14:sldIdLst>
        </p14:section>
        <p14:section name="Vorgehen" id="{467f687f-08db-8b21-92cf-282e9e4f40c4}">
          <p14:sldIdLst>
            <p14:sldId id="258"/>
            <p14:sldId id="259"/>
          </p14:sldIdLst>
        </p14:section>
        <p14:section name="Lernen" id="{2e1035d7-2757-df25-721a-d16eaa61e9a1}">
          <p14:sldIdLst>
            <p14:sldId id="260"/>
            <p14:sldId id="261"/>
            <p14:sldId id="262"/>
            <p14:sldId id="263"/>
          </p14:sldIdLst>
        </p14:section>
        <p14:section name="Rückblick" id="{5efdf5e8-3d58-c167-e1de-60098ae0fa7b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30 s. Kurz vorstellen: Projekt, zwei Kreaturen, alles gelernt statt animiert. Bild: der aktuelle Showcase mit beiden finalen Läufern.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Idee: lebendige Kreaturen, die nichts vorprogrammiert bekommen. Nur Regeln, wofür es Punkte gibt.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 15 s. Schritt für Schritt: erst die Welt, dann Entscheidungen in 2D (schnell), dann echte Physik. Iterativ: eine Änderung, messen, zuschauen.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50 s. Alles Open Source ausser dem Assistenten. Rechnen nur auf dem Laptop: ein Grund, warum Training und Rendern lange dauerten.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PPO einfach erklären. Zwei Gehirne übereinander: das obere entscheidet, das untere setzt es in Beinbewegung um. Belohnung beim Laufen: Tempo treffen × wie tierähnlich × wie sauber (Ruck, Kippen, Rutschen).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45 s. Der DC brauchte zwölf Versionen: Schlupflöcher wie Handstand und Planke, dann der Körper aus 218 Teilen nach dem echten Modell und der Wolf als Vorbild. Am Ende flüssiger Gang, Sprint bis 4 m/s und sicheres Bremsen.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45 s. Der Myrranox war schwieriger als gedacht: erst als das Gewicht stimmte (leichterer Hinterleib) und ein fester Dreifuß-Rhythmus vorgegeben wurde, lief er wie ein Insekt. Rückwärts und Drehen auf der Stelle hat er erst mit v10 gelernt.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45 s. Da sich die Belohnung zwischen den Versionen geändert hat, habe ich alle Gehirne beider Kreaturen nachträglich mit dem gleichen Test gemessen. Man sieht: Fortschritt nicht geradlinig - v6/v8 beim DC waren Einbrüche (sechs Gliedmaßen, Handstand), der Myrranox brach bei v9 ein (Schubkarre). Der finale DC v12z ist das beste DC-Gehirn; beim Myrranox v10 kostet das Trippeln der Vorderbeine 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Wichtigste Erkenntnis: RL optimiert genau das, was man belohnt - nicht das, was man meint. Beispiele 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Ehrlich: viele Runden waren Fehlversuche. Jede hat aber eine Lehre gebracht.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Die drei wichtigsten: Körper zuerst, Belohnung vorher testen, bessere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30 s plus Fragen. Optional hier das 30-s-Video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B"/>
                </a:solidFill>
              </a:rPr>
              <a:t>Endemic Creatures · Reinforcement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 descr="C:\Users\thoma\PycharmProjects\Reinforcement_Learning_Creature\docs\figures\showcase_v6_sti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4399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Endemic Creatures: Laufen und Jagen lernen mit Reinforcement Learning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Zwei erfundene Raubtiere lernen in einer Physik-Simulation selbst zu gehen und zu jagen · Thomas · Oktober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Idee</a:t>
            </a:r>
            <a:endParaRPr lang="en-US" sz="3200" dirty="0"/>
          </a:p>
        </p:txBody>
      </p:sp>
      <p:sp>
        <p:nvSpPr>
          <p:cNvPr id="3" name="creature0"/>
          <p:cNvSpPr/>
          <p:nvPr/>
        </p:nvSpPr>
        <p:spPr>
          <a:xfrm>
            <a:off x="548640" y="1325880"/>
            <a:ext cx="2697480" cy="27889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g0" descr="C:\Users\thoma\PycharmProjects\Reinforcement_Learning_Creature\docs\presentation\src\myr_sti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463040"/>
            <a:ext cx="242316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Myrranox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Ameisen-artig, 6 Beine, 8 kg</a:t>
            </a:r>
            <a:endParaRPr lang="en-US" sz="1400" dirty="0"/>
          </a:p>
        </p:txBody>
      </p:sp>
      <p:sp>
        <p:nvSpPr>
          <p:cNvPr id="7" name="creature1"/>
          <p:cNvSpPr/>
          <p:nvPr/>
        </p:nvSpPr>
        <p:spPr>
          <a:xfrm>
            <a:off x="3429000" y="1325880"/>
            <a:ext cx="2697480" cy="27889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g1" descr="C:\Users\thoma\PycharmProjects\Reinforcement_Learning_Creature\docs\presentation\src\dc_sti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66160" y="1463040"/>
            <a:ext cx="2423160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118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361188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Panther-artig mit Zusatzarmen, 60 kg</a:t>
            </a:r>
            <a:endParaRPr lang="en-US" sz="1400" dirty="0"/>
          </a:p>
        </p:txBody>
      </p:sp>
      <p:sp>
        <p:nvSpPr>
          <p:cNvPr id="11" name="idea_text"/>
          <p:cNvSpPr/>
          <p:nvPr/>
        </p:nvSpPr>
        <p:spPr>
          <a:xfrm>
            <a:off x="6400800" y="1325880"/>
            <a:ext cx="5212080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01168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Zwei Raubtiere leben in einem Habitat von 100 × 100 m mit Revieren, Beute und Rastplätzen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Sie lernen selbst: wohin sie gehen (jagen, rasten, Revier) und wie sie ihre Beine bewegen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Keine Animation: jede Bewegung entsteht durch Belohnung und Strafe in einer Physik-Simulation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Bewegung wie das Vorbild: Insekt im Dreifuß-Gang, Raubkatze / Wolf im Viertakt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Ergebnis als Video in Blender</a:t>
            </a:r>
            <a:endParaRPr lang="en-US" sz="1500" dirty="0"/>
          </a:p>
        </p:txBody>
      </p:sp>
      <p:sp>
        <p:nvSpPr>
          <p:cNvPr id="14" name="question"/>
          <p:cNvSpPr/>
          <p:nvPr/>
        </p:nvSpPr>
        <p:spPr>
          <a:xfrm>
            <a:off x="548640" y="4343400"/>
            <a:ext cx="55778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892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ein Computer ohne Vorgaben lernen, sich wie ein echtes Tier zu bewegen und zu verhalten?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bin ich vorgegangen?</a:t>
            </a:r>
            <a:endParaRPr lang="en-US" sz="3200" dirty="0"/>
          </a:p>
        </p:txBody>
      </p:sp>
      <p:sp>
        <p:nvSpPr>
          <p:cNvPr id="3" name="step0"/>
          <p:cNvSpPr/>
          <p:nvPr/>
        </p:nvSpPr>
        <p:spPr>
          <a:xfrm>
            <a:off x="548640" y="137160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Welt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Projektplan, Habitat, Regeln, 3D-Modelle in Blender</a:t>
            </a:r>
            <a:endParaRPr lang="en-US" sz="1400" dirty="0"/>
          </a:p>
        </p:txBody>
      </p:sp>
      <p:sp>
        <p:nvSpPr>
          <p:cNvPr id="8" name="step1"/>
          <p:cNvSpPr/>
          <p:nvPr/>
        </p:nvSpPr>
        <p:spPr>
          <a:xfrm>
            <a:off x="4297680" y="137160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Jagen in 2D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2D-Simulation: Raubtier-Gehirne lernen jagen und rasten</a:t>
            </a:r>
            <a:endParaRPr lang="en-US" sz="1400" dirty="0"/>
          </a:p>
        </p:txBody>
      </p:sp>
      <p:sp>
        <p:nvSpPr>
          <p:cNvPr id="13" name="step2"/>
          <p:cNvSpPr/>
          <p:nvPr/>
        </p:nvSpPr>
        <p:spPr>
          <a:xfrm>
            <a:off x="8046720" y="137160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 in 3D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40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MuJoCo-Physik: Laufgehirne lernen die Beine zu bewegen</a:t>
            </a:r>
            <a:endParaRPr lang="en-US" sz="1400" dirty="0"/>
          </a:p>
        </p:txBody>
      </p:sp>
      <p:sp>
        <p:nvSpPr>
          <p:cNvPr id="18" name="step3"/>
          <p:cNvSpPr/>
          <p:nvPr/>
        </p:nvSpPr>
        <p:spPr>
          <a:xfrm>
            <a:off x="548640" y="333756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611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Körper wie das Modell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06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Physik-Körper direkt aus dem 3D-Netz (bis 218 Teile)</a:t>
            </a:r>
            <a:endParaRPr lang="en-US" sz="1400" dirty="0"/>
          </a:p>
        </p:txBody>
      </p:sp>
      <p:sp>
        <p:nvSpPr>
          <p:cNvPr id="23" name="step4"/>
          <p:cNvSpPr/>
          <p:nvPr/>
        </p:nvSpPr>
        <p:spPr>
          <a:xfrm>
            <a:off x="4297680" y="333756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566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611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Natürlicher Stil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206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nach Vorbild (Insekt, Wolf), messen, nachschärfen</a:t>
            </a:r>
            <a:endParaRPr lang="en-US" sz="1400" dirty="0"/>
          </a:p>
        </p:txBody>
      </p:sp>
      <p:sp>
        <p:nvSpPr>
          <p:cNvPr id="28" name="step5"/>
          <p:cNvSpPr/>
          <p:nvPr/>
        </p:nvSpPr>
        <p:spPr>
          <a:xfrm>
            <a:off x="8046720" y="333756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566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611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06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Gehirne zusammen im Habitat, in Blender gerendert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Arbeitsweise: immer eine Änderung pro Training, danach messen (Tempo, Takt, Stürze) und live zuschauen · 12 Versionen des Laufgehirns in 5 Wochen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Mittel und Tools habe ich verwendet?</a:t>
            </a:r>
            <a:endParaRPr lang="en-US" sz="3200" dirty="0"/>
          </a:p>
        </p:txBody>
      </p:sp>
      <p:sp>
        <p:nvSpPr>
          <p:cNvPr id="3" name="tool0"/>
          <p:cNvSpPr/>
          <p:nvPr/>
        </p:nvSpPr>
        <p:spPr>
          <a:xfrm>
            <a:off x="548640" y="132588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56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Physik-Simulation: Kräfte, Kontakte, Gleichgewicht</a:t>
            </a:r>
            <a:endParaRPr lang="en-US" sz="1400" dirty="0"/>
          </a:p>
        </p:txBody>
      </p:sp>
      <p:sp>
        <p:nvSpPr>
          <p:cNvPr id="7" name="tool1"/>
          <p:cNvSpPr/>
          <p:nvPr/>
        </p:nvSpPr>
        <p:spPr>
          <a:xfrm>
            <a:off x="6217920" y="132588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56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Lernumgebungen: Beobachtung, Aktion, Belohnung</a:t>
            </a:r>
            <a:endParaRPr lang="en-US" sz="1400" dirty="0"/>
          </a:p>
        </p:txBody>
      </p:sp>
      <p:sp>
        <p:nvSpPr>
          <p:cNvPr id="11" name="tool2"/>
          <p:cNvSpPr/>
          <p:nvPr/>
        </p:nvSpPr>
        <p:spPr>
          <a:xfrm>
            <a:off x="548640" y="2514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2651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 + PyTorch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044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Lernalgorithmus PPO, neuronale Netze</a:t>
            </a:r>
            <a:endParaRPr lang="en-US" sz="1400" dirty="0"/>
          </a:p>
        </p:txBody>
      </p:sp>
      <p:sp>
        <p:nvSpPr>
          <p:cNvPr id="15" name="tool3"/>
          <p:cNvSpPr/>
          <p:nvPr/>
        </p:nvSpPr>
        <p:spPr>
          <a:xfrm>
            <a:off x="6217920" y="2514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788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2651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5.2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044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3D-Modelle, Rig, Animation, Rendering</a:t>
            </a:r>
            <a:endParaRPr lang="en-US" sz="1400" dirty="0"/>
          </a:p>
        </p:txBody>
      </p:sp>
      <p:sp>
        <p:nvSpPr>
          <p:cNvPr id="19" name="tool4"/>
          <p:cNvSpPr/>
          <p:nvPr/>
        </p:nvSpPr>
        <p:spPr>
          <a:xfrm>
            <a:off x="548640" y="3703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1732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33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zerlegt das 3D-Netz in Physik-Teile</a:t>
            </a:r>
            <a:endParaRPr lang="en-US" sz="1400" dirty="0"/>
          </a:p>
        </p:txBody>
      </p:sp>
      <p:sp>
        <p:nvSpPr>
          <p:cNvPr id="23" name="tool5"/>
          <p:cNvSpPr/>
          <p:nvPr/>
        </p:nvSpPr>
        <p:spPr>
          <a:xfrm>
            <a:off x="6217920" y="3703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977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866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Git / GitHub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233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Versionen, alle Gehirne und Videos gesichert</a:t>
            </a:r>
            <a:endParaRPr lang="en-US" sz="1400" dirty="0"/>
          </a:p>
        </p:txBody>
      </p:sp>
      <p:sp>
        <p:nvSpPr>
          <p:cNvPr id="27" name="tool6"/>
          <p:cNvSpPr/>
          <p:nvPr/>
        </p:nvSpPr>
        <p:spPr>
          <a:xfrm>
            <a:off x="54864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17320" y="5029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422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KI-Assistent: Code, Analysen, Doku</a:t>
            </a:r>
            <a:endParaRPr lang="en-US" sz="1400" dirty="0"/>
          </a:p>
        </p:txBody>
      </p:sp>
      <p:sp>
        <p:nvSpPr>
          <p:cNvPr id="31" name="tool7"/>
          <p:cNvSpPr/>
          <p:nvPr/>
        </p:nvSpPr>
        <p:spPr>
          <a:xfrm>
            <a:off x="621792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51663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86600" y="5029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5422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CPU-Kerne, keine Grafikkarte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Welchen Lernalgorithmus habe ich verwendet?</a:t>
            </a:r>
            <a:endParaRPr lang="en-US" sz="3200" dirty="0"/>
          </a:p>
        </p:txBody>
      </p:sp>
      <p:sp>
        <p:nvSpPr>
          <p:cNvPr id="3" name="ppo"/>
          <p:cNvSpPr/>
          <p:nvPr/>
        </p:nvSpPr>
        <p:spPr>
          <a:xfrm>
            <a:off x="548640" y="1325880"/>
            <a:ext cx="5120640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– Proximal Policy Optimization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4709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Reinforcement Learning: Ausprobieren, Belohnung bekommen, besser werden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Actor-Critic: ein Netz wählt die Aktion, ein zweites schätzt den Wert der Lage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„Proximal“: pro Update nur kleine Änderungen – stabiles Lernen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8 Simulationen parallel, Millionen Versuche (≈ 185 Mio. Schritte insgesamt)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Extra: Spiegel-Symmetrie links/rechts, Lehrpläne (erst leicht, dann schwer)</a:t>
            </a:r>
            <a:endParaRPr lang="en-US" sz="1400" dirty="0"/>
          </a:p>
        </p:txBody>
      </p:sp>
      <p:sp>
        <p:nvSpPr>
          <p:cNvPr id="6" name="arch0"/>
          <p:cNvSpPr/>
          <p:nvPr/>
        </p:nvSpPr>
        <p:spPr>
          <a:xfrm>
            <a:off x="5989320" y="1325880"/>
            <a:ext cx="56235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Raubtier-Gehirn · 10 Hz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920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wohin? jagen, rasten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Tempo + Drehung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41080" y="2670048"/>
            <a:ext cx="274320" cy="237744"/>
          </a:xfrm>
          <a:prstGeom prst="downArrow">
            <a:avLst/>
          </a:prstGeom>
          <a:solidFill>
            <a:srgbClr val="8FA89B"/>
          </a:solidFill>
          <a:ln w="12700">
            <a:solidFill>
              <a:srgbClr val="8FA89B"/>
            </a:solidFill>
            <a:prstDash val="solid"/>
          </a:ln>
        </p:spPr>
      </p:sp>
      <p:sp>
        <p:nvSpPr>
          <p:cNvPr id="12" name="arch1"/>
          <p:cNvSpPr/>
          <p:nvPr/>
        </p:nvSpPr>
        <p:spPr>
          <a:xfrm>
            <a:off x="5989320" y="2926080"/>
            <a:ext cx="56235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3337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108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Laufgehirn · 50 Hz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35204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wie? Gelenkziele für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(Myr) / 29 (DC) Motoren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41080" y="4270248"/>
            <a:ext cx="274320" cy="237744"/>
          </a:xfrm>
          <a:prstGeom prst="downArrow">
            <a:avLst/>
          </a:prstGeom>
          <a:solidFill>
            <a:srgbClr val="8FA89B"/>
          </a:solidFill>
          <a:ln w="12700">
            <a:solidFill>
              <a:srgbClr val="8FA89B"/>
            </a:solidFill>
            <a:prstDash val="solid"/>
          </a:ln>
        </p:spPr>
      </p:sp>
      <p:sp>
        <p:nvSpPr>
          <p:cNvPr id="18" name="arch2"/>
          <p:cNvSpPr/>
          <p:nvPr/>
        </p:nvSpPr>
        <p:spPr>
          <a:xfrm>
            <a:off x="5989320" y="4526280"/>
            <a:ext cx="56235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49377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709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MuJoCo-Physik · 200 Hz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Kräfte, Kontakte,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Gleichgewicht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herausgekommen? DC</a:t>
            </a:r>
            <a:endParaRPr lang="en-US" sz="3200" dirty="0"/>
          </a:p>
        </p:txBody>
      </p:sp>
      <p:pic>
        <p:nvPicPr>
          <p:cNvPr id="3" name="dc_body" descr="C:\Users\thoma\PycharmProjects\Reinforcement_Learning_Creature\docs\presentation\src\dc_physics_body_v12_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12064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Physik-Körper aus dem Detail-Modell: 218 Teile, mit Stacheln</a:t>
            </a:r>
            <a:endParaRPr lang="en-US" sz="1300" dirty="0"/>
          </a:p>
        </p:txBody>
      </p:sp>
      <p:sp>
        <p:nvSpPr>
          <p:cNvPr id="5" name="dc_stat0"/>
          <p:cNvSpPr/>
          <p:nvPr/>
        </p:nvSpPr>
        <p:spPr>
          <a:xfrm>
            <a:off x="598932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0,59 m/s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(Befehl 0,6)</a:t>
            </a:r>
            <a:endParaRPr lang="en-US" sz="1200" dirty="0"/>
          </a:p>
        </p:txBody>
      </p:sp>
      <p:sp>
        <p:nvSpPr>
          <p:cNvPr id="8" name="dc_stat1"/>
          <p:cNvSpPr/>
          <p:nvPr/>
        </p:nvSpPr>
        <p:spPr>
          <a:xfrm>
            <a:off x="740664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 m/s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Spitze</a:t>
            </a:r>
            <a:endParaRPr lang="en-US" sz="1200" dirty="0"/>
          </a:p>
        </p:txBody>
      </p:sp>
      <p:sp>
        <p:nvSpPr>
          <p:cNvPr id="11" name="dc_stat2"/>
          <p:cNvSpPr/>
          <p:nvPr/>
        </p:nvSpPr>
        <p:spPr>
          <a:xfrm>
            <a:off x="882396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6968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±1 %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86968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Takt-Schwankung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1 m/s</a:t>
            </a:r>
            <a:endParaRPr lang="en-US" sz="1200" dirty="0"/>
          </a:p>
        </p:txBody>
      </p:sp>
      <p:sp>
        <p:nvSpPr>
          <p:cNvPr id="14" name="dc_stat3"/>
          <p:cNvSpPr/>
          <p:nvPr/>
        </p:nvSpPr>
        <p:spPr>
          <a:xfrm>
            <a:off x="1024128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28700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von 3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028700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Bremsen aus dem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ohne Sturz</a:t>
            </a:r>
            <a:endParaRPr lang="en-US" sz="1200" dirty="0"/>
          </a:p>
        </p:txBody>
      </p:sp>
      <p:sp>
        <p:nvSpPr>
          <p:cNvPr id="17" name="dc_path"/>
          <p:cNvSpPr/>
          <p:nvPr/>
        </p:nvSpPr>
        <p:spPr>
          <a:xfrm>
            <a:off x="5989320" y="3108960"/>
            <a:ext cx="56235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3246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zum Raubkatzen-Gang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3703320"/>
            <a:ext cx="5257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v2: Schritt und Trab im Gangtakt, 2,4× weniger Energie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v5: langer Panther-Schritt (0,62 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v8: „Handstand“ auf Vorderbeinen und Armen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v11: Raubkatzen-Gewichte – kein Trippeln mehr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v12: 218-Teile-Körper, Wolf-Vorbild, T-Rex-Arme, neue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v12z: Planke weg, Gang geglättet → final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576072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0,52–0,97 m · Wippen ≤ 2 cm · keine Stürze · offen: Drehen am Ort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herausgekommen? Myrranox</a:t>
            </a:r>
            <a:endParaRPr lang="en-US" sz="3200" dirty="0"/>
          </a:p>
        </p:txBody>
      </p:sp>
      <p:pic>
        <p:nvPicPr>
          <p:cNvPr id="3" name="myr_body" descr="C:\Users\thoma\PycharmProjects\Reinforcement_Learning_Creature\docs\presentation\src\myrranox_physics_body_mesh_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120640" cy="38482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Physik-Körper aus dem echten Modell: 21 Hüllen, Krallen als Füße</a:t>
            </a:r>
            <a:endParaRPr lang="en-US" sz="1300" dirty="0"/>
          </a:p>
        </p:txBody>
      </p:sp>
      <p:sp>
        <p:nvSpPr>
          <p:cNvPr id="5" name="myr_stat0"/>
          <p:cNvSpPr/>
          <p:nvPr/>
        </p:nvSpPr>
        <p:spPr>
          <a:xfrm>
            <a:off x="598932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0,52 m/s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(Befehl 0,6)</a:t>
            </a:r>
            <a:endParaRPr lang="en-US" sz="1200" dirty="0"/>
          </a:p>
        </p:txBody>
      </p:sp>
      <p:sp>
        <p:nvSpPr>
          <p:cNvPr id="8" name="myr_stat1"/>
          <p:cNvSpPr/>
          <p:nvPr/>
        </p:nvSpPr>
        <p:spPr>
          <a:xfrm>
            <a:off x="740664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 m/s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Vollgas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(Befehl 1,2)</a:t>
            </a:r>
            <a:endParaRPr lang="en-US" sz="1200" dirty="0"/>
          </a:p>
        </p:txBody>
      </p:sp>
      <p:sp>
        <p:nvSpPr>
          <p:cNvPr id="11" name="myr_stat2"/>
          <p:cNvSpPr/>
          <p:nvPr/>
        </p:nvSpPr>
        <p:spPr>
          <a:xfrm>
            <a:off x="882396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6968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°/s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86968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Drehen auf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Stelle</a:t>
            </a:r>
            <a:endParaRPr lang="en-US" sz="1200" dirty="0"/>
          </a:p>
        </p:txBody>
      </p:sp>
      <p:sp>
        <p:nvSpPr>
          <p:cNvPr id="14" name="myr_stat3"/>
          <p:cNvSpPr/>
          <p:nvPr/>
        </p:nvSpPr>
        <p:spPr>
          <a:xfrm>
            <a:off x="1024128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287000" y="14630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−0,26 m/s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0287000" y="2057400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rückwärts 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erstmals gelernt</a:t>
            </a:r>
            <a:endParaRPr lang="en-US" sz="1200" dirty="0"/>
          </a:p>
        </p:txBody>
      </p:sp>
      <p:sp>
        <p:nvSpPr>
          <p:cNvPr id="17" name="myr_path"/>
          <p:cNvSpPr/>
          <p:nvPr/>
        </p:nvSpPr>
        <p:spPr>
          <a:xfrm>
            <a:off x="5989320" y="3108960"/>
            <a:ext cx="56235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3246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zum Insekten-Gang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3703320"/>
            <a:ext cx="5257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v1: läuft, aber nur mit den Mittelbeinen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v2: Dreifuß-Takt (3 Beine am Boden), 5× weniger Energie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v5: Knie endlich frei (waren seit v2 blockiert)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v9: „Schubkarre“ – der Hinterleib war 54 % des Gewichts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v10: Hinterleib leichter (23 %) + Dreifuß-Schrittgeber → final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Dreifuß-Takt 87 % der Zeit · Knie 60° · Hinterleib nie am Boden · keine Stürze · offen: Vorderbeine nur 21 % am Boden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Lernkurve beider Kreaturen über alle Versionen</a:t>
            </a:r>
            <a:endParaRPr lang="en-US" sz="3200" dirty="0"/>
          </a:p>
        </p:txBody>
      </p:sp>
      <p:pic>
        <p:nvPicPr>
          <p:cNvPr id="3" name="lc_common" descr="C:\Users\thoma\PycharmProjects\Reinforcement_Learning_Creature\docs\figures\locomotion\learning_curve_comm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43000"/>
            <a:ext cx="10058400" cy="486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Test für alle 363 gespeicherten Gehirne: Befehl „Gehen mit 0,6 m/s“. Lauf-Qualität = Tempo trifft × Rumpf ruhig × Takt gleichmäßig × kein Sturz. Punkte = alle Checkpoints einer Version, Linie = bestes Gehirn, Stern = freigegebenes Gehirn. Nicht gemessen: wie tierähnlich der Gang aussieht.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 ich gelernt?</a:t>
            </a:r>
            <a:endParaRPr lang="en-US" sz="3200" dirty="0"/>
          </a:p>
        </p:txBody>
      </p:sp>
      <p:sp>
        <p:nvSpPr>
          <p:cNvPr id="3" name="learn0"/>
          <p:cNvSpPr/>
          <p:nvPr/>
        </p:nvSpPr>
        <p:spPr>
          <a:xfrm>
            <a:off x="54864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90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Belohnung ist alles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Gehirn findet jedes Schlupfloch: Stillstehen, Handstand, „Planke“ – wenn es Punkte bringt</a:t>
            </a:r>
            <a:endParaRPr lang="en-US" sz="1400" dirty="0"/>
          </a:p>
        </p:txBody>
      </p:sp>
      <p:sp>
        <p:nvSpPr>
          <p:cNvPr id="8" name="learn1"/>
          <p:cNvSpPr/>
          <p:nvPr/>
        </p:nvSpPr>
        <p:spPr>
          <a:xfrm>
            <a:off x="621792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490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der Körper, dann das Lernen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 Masse, Geometrie oder Gelenke kann keine Regel ausgleichen</a:t>
            </a:r>
            <a:endParaRPr lang="en-US" sz="1400" dirty="0"/>
          </a:p>
        </p:txBody>
      </p:sp>
      <p:sp>
        <p:nvSpPr>
          <p:cNvPr id="13" name="learn2"/>
          <p:cNvSpPr/>
          <p:nvPr/>
        </p:nvSpPr>
        <p:spPr>
          <a:xfrm>
            <a:off x="548640" y="2898648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101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Multiplizieren statt abziehen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930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Strafen verkleinern die Punkte – Stehen darf nie billiger sein als Laufen</a:t>
            </a:r>
            <a:endParaRPr lang="en-US" sz="1400" dirty="0"/>
          </a:p>
        </p:txBody>
      </p:sp>
      <p:sp>
        <p:nvSpPr>
          <p:cNvPr id="18" name="learn3"/>
          <p:cNvSpPr/>
          <p:nvPr/>
        </p:nvSpPr>
        <p:spPr>
          <a:xfrm>
            <a:off x="6217920" y="2898648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3101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und zuschauen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4930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zeigen Trends, live zuschauen zeigt, was wirklich passiert</a:t>
            </a:r>
            <a:endParaRPr lang="en-US" sz="1400" dirty="0"/>
          </a:p>
        </p:txBody>
      </p:sp>
      <p:sp>
        <p:nvSpPr>
          <p:cNvPr id="23" name="learn4"/>
          <p:cNvSpPr/>
          <p:nvPr/>
        </p:nvSpPr>
        <p:spPr>
          <a:xfrm>
            <a:off x="548640" y="4471416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8828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6360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Schritte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0657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Änderung pro Training; jeden Checkpoint behalten</a:t>
            </a:r>
            <a:endParaRPr lang="en-US" sz="1400" dirty="0"/>
          </a:p>
        </p:txBody>
      </p:sp>
      <p:sp>
        <p:nvSpPr>
          <p:cNvPr id="28" name="learn5"/>
          <p:cNvSpPr/>
          <p:nvPr/>
        </p:nvSpPr>
        <p:spPr>
          <a:xfrm>
            <a:off x="6217920" y="4471416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88289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6360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gezielt einsetzen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0657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Geh-Regel im Sprint hat das Sprinten verhindert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schlecht gelaufen?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passierte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Stillstand-Fallen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Mehrmals lernten die Gehirne, einfach stehen zu bleiben (Strafen zu stark)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Schlupflöcher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DC: Handstand auf Vorderbeinen, später „Planke“ mit gespreizten Beinen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Regelfehler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 in meinen Regeln haben ganze Trainings verdorben (z. B. Beine nach innen gezogen)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Arme &amp; Hand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Arme zu kurz, Handgelenk an falscher Stelle – Arme im Sprint am Ende verworfen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Rechner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schlief ein oder Sitzung endete: ≈ 9 h Training verloren; Rendern 4–6 h pro Video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Raubzüge und Revierverteidigung nie gelernt; Spiel-Idee gebaut und verworfen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würde ich anders machen?</a:t>
            </a:r>
            <a:endParaRPr lang="en-US" sz="3200" dirty="0"/>
          </a:p>
        </p:txBody>
      </p:sp>
      <p:sp>
        <p:nvSpPr>
          <p:cNvPr id="3" name="diff0"/>
          <p:cNvSpPr/>
          <p:nvPr/>
        </p:nvSpPr>
        <p:spPr>
          <a:xfrm>
            <a:off x="54864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→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Körper zuerst prüfen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Masse, Geometrie, Reichweite der Glieder vor dem ersten Training messen</a:t>
            </a:r>
            <a:endParaRPr lang="en-US" sz="1400" dirty="0"/>
          </a:p>
        </p:txBody>
      </p:sp>
      <p:sp>
        <p:nvSpPr>
          <p:cNvPr id="8" name="diff1"/>
          <p:cNvSpPr/>
          <p:nvPr/>
        </p:nvSpPr>
        <p:spPr>
          <a:xfrm>
            <a:off x="429768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Belohnung vorher testen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einfachen Skript-Figuren prüfen, ob Stehen oder Schlupflöcher sich lohnen</a:t>
            </a:r>
            <a:endParaRPr lang="en-US" sz="1400" dirty="0"/>
          </a:p>
        </p:txBody>
      </p:sp>
      <p:sp>
        <p:nvSpPr>
          <p:cNvPr id="13" name="diff2"/>
          <p:cNvSpPr/>
          <p:nvPr/>
        </p:nvSpPr>
        <p:spPr>
          <a:xfrm>
            <a:off x="804672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Vorbild früher nutzen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Referenz-Bewegung (z. B. der Wolf) von Anfang an als Ziel</a:t>
            </a:r>
            <a:endParaRPr lang="en-US" sz="1400" dirty="0"/>
          </a:p>
        </p:txBody>
      </p:sp>
      <p:sp>
        <p:nvSpPr>
          <p:cNvPr id="18" name="diff3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 messbar festlegen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Takt, Haltung als feste Tests vor jedem Training</a:t>
            </a:r>
            <a:endParaRPr lang="en-US" sz="1400" dirty="0"/>
          </a:p>
        </p:txBody>
      </p:sp>
      <p:sp>
        <p:nvSpPr>
          <p:cNvPr id="23" name="diff4"/>
          <p:cNvSpPr/>
          <p:nvPr/>
        </p:nvSpPr>
        <p:spPr>
          <a:xfrm>
            <a:off x="4297680" y="36576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Stärkere Hardware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526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 mit Grafikkarte oder Cloud: Rendern 10–20× schneller, nichts schläft ein</a:t>
            </a:r>
            <a:endParaRPr lang="en-US" sz="1400" dirty="0"/>
          </a:p>
        </p:txBody>
      </p:sp>
      <p:sp>
        <p:nvSpPr>
          <p:cNvPr id="28" name="diff5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auf einmal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26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ein Tier fertig, dann das zweite; weniger Ideen parallel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utro" descr="C:\Users\thoma\PycharmProjects\Reinforcement_Learning_Creature\docs\figures\showcase_v6_sti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4399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Danke! Fragen?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Video: docs/videos/showcase_v6_30s.mp4 · Code, Gehirne und Doku: GitHub, Branch rl-locomotion-setup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demic Creatures">
  <a:themeElements>
    <a:clrScheme name="Endemic Creatures">
      <a:dk1>
        <a:srgbClr val="1C2321"/>
      </a:dk1>
      <a:lt1>
        <a:srgbClr val="FFFFFF"/>
      </a:lt1>
      <a:dk2>
        <a:srgbClr val="1F3A35"/>
      </a:dk2>
      <a:lt2>
        <a:srgbClr val="EDF2EF"/>
      </a:lt2>
      <a:accent1>
        <a:srgbClr val="D98E04"/>
      </a:accent1>
      <a:accent2>
        <a:srgbClr val="2E7D6B"/>
      </a:accent2>
      <a:accent3>
        <a:srgbClr val="B23A48"/>
      </a:accent3>
      <a:accent4>
        <a:srgbClr val="5B6C8F"/>
      </a:accent4>
      <a:accent5>
        <a:srgbClr val="8FA89B"/>
      </a:accent5>
      <a:accent6>
        <a:srgbClr val="C9B27C"/>
      </a:accent6>
      <a:hlink>
        <a:srgbClr val="2E7D6B"/>
      </a:hlink>
      <a:folHlink>
        <a:srgbClr val="5B6C8F"/>
      </a:folHlink>
    </a:clrScheme>
    <a:fontScheme name="Endemic Creatur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Endemic Creatures - Laufen und Jagen lernen mit Reinforcement Learning</dc:title>
  <dc:subject>Kurzpräsentation (10 Minuten)</dc:subject>
  <dc:creator>Thomas</dc:creator>
  <cp:lastModifiedBy>Thomas</cp:lastModifiedBy>
  <cp:revision>1</cp:revision>
  <dcterms:created xsi:type="dcterms:W3CDTF">2026-10-28T14:55:41Z</dcterms:created>
  <dcterms:modified xsi:type="dcterms:W3CDTF">2026-10-28T14:55:41Z</dcterms:modified>
</cp:coreProperties>
</file>